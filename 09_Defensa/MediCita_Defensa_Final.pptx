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67" r:id="rId14"/>
    <p:sldId id="268" r:id="rId15"/>
    <p:sldId id="269" r:id="rId16"/>
    <p:sldId id="270" r:id="rId17"/>
    <p:sldId id="273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ptos Display"/>
              </a:defRPr>
            </a:pPr>
            <a:r>
              <a:rPr lang="es-EC" sz="1800" b="0" i="0" u="none" strike="noStrike">
                <a:solidFill>
                  <a:srgbClr val="000000"/>
                </a:solidFill>
                <a:latin typeface="Aptos Display"/>
              </a:rPr>
              <a:t>Estado de tareas observadas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Tareas</c:v>
                </c:pt>
              </c:strCache>
            </c:strRef>
          </c:tx>
          <c:spPr>
            <a:solidFill>
              <a:srgbClr val="0B64B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B29-4C03-970F-7C286F01FF66}"/>
              </c:ext>
            </c:extLst>
          </c:dPt>
          <c:dPt>
            <c:idx val="1"/>
            <c:invertIfNegative val="0"/>
            <c:bubble3D val="0"/>
            <c:spPr>
              <a:solidFill>
                <a:srgbClr val="F28C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B29-4C03-970F-7C286F01FF66}"/>
              </c:ext>
            </c:extLst>
          </c:dPt>
          <c:dPt>
            <c:idx val="2"/>
            <c:invertIfNegative val="0"/>
            <c:bubble3D val="0"/>
            <c:spPr>
              <a:solidFill>
                <a:srgbClr val="8AA1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B29-4C03-970F-7C286F01FF6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Con mejora</c:v>
                </c:pt>
                <c:pt idx="1">
                  <c:v>No completada</c:v>
                </c:pt>
                <c:pt idx="2">
                  <c:v>Sin observación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B29-4C03-970F-7C286F01FF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ptos"/>
              </a:defRPr>
            </a:pPr>
            <a:endParaRPr lang="es-EC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s-EC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RF Must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AD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9AB-490D-890E-CCDCBA51BFD5}"/>
              </c:ext>
            </c:extLst>
          </c:dPt>
          <c:dPt>
            <c:idx val="1"/>
            <c:bubble3D val="0"/>
            <c:spPr>
              <a:solidFill>
                <a:srgbClr val="9AAE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9AB-490D-890E-CCDCBA51BFD5}"/>
              </c:ext>
            </c:extLst>
          </c:dPt>
          <c:cat>
            <c:strRef>
              <c:f>Sheet1!$A$2:$A$3</c:f>
              <c:strCache>
                <c:ptCount val="2"/>
                <c:pt idx="0">
                  <c:v>RF Must cerrados</c:v>
                </c:pt>
                <c:pt idx="1">
                  <c:v>RF Must pendientes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9AB-490D-890E-CCDCBA51BF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454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Steven abre la defensa: presentar el proyecto y la idea central. Enfatizar que MediCita se defiende como proceso de ingeniería de requisitos con evidencia, trazabilidad y validación, no como sistema clínico productivo.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Steven explica la tesis: la defensa debe responder tres preguntas: cuál era el problema, cómo se transformó en requisitos y cómo se comprobó.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Steven: describir el problema con ejemplos concretos: historia física, comunicación entre áreas, pagos, turnos y medicamentos. Cerrar diciendo que MediCita busca orden y trazabilidad.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Jamileth inicia metodología. Explicar la cadena completa y por qué esto es ingeniería de requisitos: evidencia, codificación, ERS, prototipo, walkthrough y prueba técnica.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Jamileth: explicar cómo recorrer el repositorio. No abrir 00_Restringido. Mostrar que el repositorio respalda ERS, evidencias públicas, modelado, trazabilidad, MVP, experimento y defensa.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Jamileth: defender la ERS/SRS. Diferenciar alcance académico y alcance productivo. Decir que el proyecto es honesto: especifica, valida y verifica, sin prometer más de lo evidenciado.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Thais presenta el MVP. Mostrar enlace o archivo local. Explicar que es una simulación funcional, autocontenida, con roles y flujos reales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Thais: explicar los flujos críticos. Insistir en el flujo receta: Medicina General y Odontología prescriben; Enfermería recibe, entrega y marca medicamento entregado.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Paul: leer los datos con cuidado. Las observaciones no son defectos todos; muchas son mejoras. Hay cinco tareas no completadas, dos completadas sin observación y treinta y nueve con observación de mejora.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Paul: explicar cobertura Must: 20 de 22. Decir claramente que RF-09 y RF-18 no se cierran. Defender honestidad metodológica: no inflar la cifra ni confundirla con satisfacción.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Paul: explicar que el análisis no pretende demostrar causalidad. La conclusión defendible es que los hallazgos no se concentran en un área; son refinamientos transversales del prototipo.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Mayummy: explicar que la matriz de trazabilidad es clave para responder preguntas del docente. Cuando pregunten de dónde sale un requisito, se debe ir a la matriz y mostrar la conexión.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Mayummy: explicar que las mejoras no fueron decorativas. Mencionar agenda, datos del paciente, enfermería, historia clínica, reportes y accesibilidad.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Mayummy: defender las limitaciones como fortaleza ética. Decir que el proyecto no vende resultados clínicos, sino validación de requisitos y trazabilidad.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Thais conduce la demo. Steven apoya con navegación si hace falta. No mostrar 00_Restringido ni datos reales. Usar datos ficticios y explicar cada flujo con su requisito asociado.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Mayummy cierra: resumir en una frase, agradecer y abrir preguntas. Todos deben estar listos para responder desde su bloque.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F"/>
          </a:solidFill>
          <a:ln w="12700">
            <a:solidFill>
              <a:srgbClr val="F6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  <a:prstDash val="solid"/>
          </a:ln>
        </p:spPr>
      </p:sp>
      <p:pic>
        <p:nvPicPr>
          <p:cNvPr id="5" name="Image 0" descr="/mnt/data/wide_clean_modern_medical_healthcare_office_or_h.png"/>
          <p:cNvPicPr>
            <a:picLocks noChangeAspect="1"/>
          </p:cNvPicPr>
          <p:nvPr/>
        </p:nvPicPr>
        <p:blipFill>
          <a:blip r:embed="rId3"/>
          <a:srcRect t="9944" b="9944"/>
          <a:stretch/>
        </p:blipFill>
        <p:spPr>
          <a:xfrm>
            <a:off x="5394960" y="0"/>
            <a:ext cx="6793992" cy="3063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49240" y="0"/>
            <a:ext cx="6839712" cy="306324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65836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" y="56692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700" b="1" dirty="0">
                <a:solidFill>
                  <a:srgbClr val="0B2F5B"/>
                </a:solidFill>
              </a:rPr>
              <a:t>MediCita</a:t>
            </a:r>
            <a:endParaRPr lang="en-US" sz="4700" dirty="0"/>
          </a:p>
        </p:txBody>
      </p:sp>
      <p:sp>
        <p:nvSpPr>
          <p:cNvPr id="9" name="Text 6"/>
          <p:cNvSpPr/>
          <p:nvPr/>
        </p:nvSpPr>
        <p:spPr>
          <a:xfrm>
            <a:off x="502920" y="1325880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</a:rPr>
              <a:t>Sistema de Gestión Inteligente para un Centro Médico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30352" y="216712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5A6B7B"/>
                </a:solidFill>
              </a:rPr>
              <a:t>Defensa final — validación empírica de requisitos mediante prototipo</a:t>
            </a:r>
            <a:endParaRPr lang="en-US" sz="1420" dirty="0"/>
          </a:p>
        </p:txBody>
      </p:sp>
      <p:sp>
        <p:nvSpPr>
          <p:cNvPr id="11" name="Text 8"/>
          <p:cNvSpPr/>
          <p:nvPr/>
        </p:nvSpPr>
        <p:spPr>
          <a:xfrm>
            <a:off x="530352" y="258775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</a:rPr>
              <a:t>Steven Díaz • Jamileth Gamarra • Thais Herrera • Paul Tigasi • Mayummy Trujillo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2240974" y="3401568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CBE4F5"/>
            </a:solidFill>
            <a:prstDash val="solid"/>
          </a:ln>
          <a:effectLst>
            <a:outerShdw blurRad="12700" dist="50800" dir="2700000" algn="bl" rotWithShape="0">
              <a:srgbClr val="BFD8EA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368990" y="3557016"/>
            <a:ext cx="621792" cy="621792"/>
          </a:xfrm>
          <a:prstGeom prst="ellipse">
            <a:avLst/>
          </a:prstGeom>
          <a:solidFill>
            <a:srgbClr val="0B64B0"/>
          </a:solidFill>
          <a:ln w="12700">
            <a:solidFill>
              <a:srgbClr val="0B64B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09654" y="3575304"/>
            <a:ext cx="1344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F5B"/>
                </a:solidFill>
              </a:rPr>
              <a:t>40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3109654" y="40050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24D"/>
                </a:solidFill>
              </a:rPr>
              <a:t>Requisitos funcionales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18414" y="3401568"/>
            <a:ext cx="2098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CBE4F5"/>
            </a:solidFill>
            <a:prstDash val="solid"/>
          </a:ln>
          <a:effectLst>
            <a:outerShdw blurRad="12700" dist="50800" dir="2700000" algn="bl" rotWithShape="0">
              <a:srgbClr val="BFD8EA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46430" y="3557016"/>
            <a:ext cx="621792" cy="621792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7094" y="3575304"/>
            <a:ext cx="1344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F5B"/>
                </a:solidFill>
              </a:rPr>
              <a:t>19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5487094" y="40050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24D"/>
                </a:solidFill>
              </a:rPr>
              <a:t>RNF activos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762174" y="3419856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CBE4F5"/>
            </a:solidFill>
            <a:prstDash val="solid"/>
          </a:ln>
          <a:effectLst>
            <a:outerShdw blurRad="12700" dist="50800" dir="2700000" algn="bl" rotWithShape="0">
              <a:srgbClr val="BFD8EA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17469" y="3575304"/>
            <a:ext cx="621792" cy="62179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29153" y="3563112"/>
            <a:ext cx="1344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F5B"/>
                </a:solidFill>
              </a:rPr>
              <a:t>46</a:t>
            </a:r>
            <a:endParaRPr lang="en-US" sz="2500" dirty="0"/>
          </a:p>
        </p:txBody>
      </p:sp>
      <p:sp>
        <p:nvSpPr>
          <p:cNvPr id="23" name="Text 20"/>
          <p:cNvSpPr/>
          <p:nvPr/>
        </p:nvSpPr>
        <p:spPr>
          <a:xfrm>
            <a:off x="7657548" y="40325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24D"/>
                </a:solidFill>
              </a:rPr>
              <a:t>Observaciones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335714" y="4855464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CBE4F5"/>
            </a:solidFill>
            <a:prstDash val="solid"/>
          </a:ln>
          <a:effectLst>
            <a:outerShdw blurRad="12700" dist="50800" dir="2700000" algn="bl" rotWithShape="0">
              <a:srgbClr val="BFD8EA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437467" y="5010912"/>
            <a:ext cx="621792" cy="621792"/>
          </a:xfrm>
          <a:prstGeom prst="ellipse">
            <a:avLst/>
          </a:prstGeom>
          <a:solidFill>
            <a:srgbClr val="1EAD68"/>
          </a:solidFill>
          <a:ln w="12700">
            <a:solidFill>
              <a:srgbClr val="1EAD6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91262" y="5010912"/>
            <a:ext cx="1344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F5B"/>
                </a:solidFill>
              </a:rPr>
              <a:t>72</a:t>
            </a:r>
            <a:endParaRPr lang="en-US" sz="2500" dirty="0"/>
          </a:p>
        </p:txBody>
      </p:sp>
      <p:sp>
        <p:nvSpPr>
          <p:cNvPr id="27" name="Text 24"/>
          <p:cNvSpPr/>
          <p:nvPr/>
        </p:nvSpPr>
        <p:spPr>
          <a:xfrm>
            <a:off x="4104979" y="5458968"/>
            <a:ext cx="1430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24D"/>
                </a:solidFill>
              </a:rPr>
              <a:t>Relaciones obs.-RF/RNF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713154" y="4855464"/>
            <a:ext cx="2098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CBE4F5"/>
            </a:solidFill>
            <a:prstDash val="solid"/>
          </a:ln>
          <a:effectLst>
            <a:outerShdw blurRad="12700" dist="50800" dir="2700000" algn="bl" rotWithShape="0">
              <a:srgbClr val="BFD8EA">
                <a:alpha val="2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821747" y="5020056"/>
            <a:ext cx="621792" cy="621792"/>
          </a:xfrm>
          <a:prstGeom prst="ellipse">
            <a:avLst/>
          </a:prstGeom>
          <a:solidFill>
            <a:srgbClr val="0B2F5B"/>
          </a:solidFill>
          <a:ln w="12700">
            <a:solidFill>
              <a:srgbClr val="0B2F5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29730" y="4983480"/>
            <a:ext cx="118838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F5B"/>
                </a:solidFill>
              </a:rPr>
              <a:t>90,91%</a:t>
            </a:r>
            <a:endParaRPr lang="en-US" sz="2500" dirty="0"/>
          </a:p>
        </p:txBody>
      </p:sp>
      <p:sp>
        <p:nvSpPr>
          <p:cNvPr id="31" name="Text 28"/>
          <p:cNvSpPr/>
          <p:nvPr/>
        </p:nvSpPr>
        <p:spPr>
          <a:xfrm>
            <a:off x="6436699" y="5458968"/>
            <a:ext cx="13428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24D"/>
                </a:solidFill>
              </a:rPr>
              <a:t>Cobertura RF Must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384048" y="6574536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FFFFFF"/>
                </a:solidFill>
              </a:rPr>
              <a:t>MediCita • Defensa final ISR-401 • UTEQ</a:t>
            </a:r>
            <a:endParaRPr lang="en-US" sz="860" dirty="0"/>
          </a:p>
        </p:txBody>
      </p:sp>
      <p:sp>
        <p:nvSpPr>
          <p:cNvPr id="34" name="Text 31"/>
          <p:cNvSpPr/>
          <p:nvPr/>
        </p:nvSpPr>
        <p:spPr>
          <a:xfrm>
            <a:off x="8412480" y="6547104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FFFFFF"/>
                </a:solidFill>
              </a:rPr>
              <a:t>Apertura: Steven</a:t>
            </a:r>
            <a:endParaRPr lang="en-US" sz="8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 err="1">
                <a:solidFill>
                  <a:srgbClr val="0B2F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Defensa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38912" y="7863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</a:rPr>
              <a:t>Qué debemos demostrar en 15 minutos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3520440" cy="40690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6072" y="1399032"/>
            <a:ext cx="3374136" cy="632968"/>
          </a:xfrm>
          <a:prstGeom prst="roundRect">
            <a:avLst>
              <a:gd name="adj" fmla="val 17391"/>
            </a:avLst>
          </a:prstGeom>
          <a:solidFill>
            <a:srgbClr val="0B64B0">
              <a:alpha val="98000"/>
            </a:srgbClr>
          </a:solidFill>
          <a:ln w="12700">
            <a:solidFill>
              <a:srgbClr val="0B64B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609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FFFFFF"/>
                </a:solidFill>
              </a:rPr>
              <a:t>!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280160" y="1563624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1. Problema real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13232" y="1947672"/>
            <a:ext cx="3099816" cy="3319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Procesos clínico-administrativos fragmentados dificultan citas, historia clínica, pagos, medicamentos y coordinación entre áreas.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343400" y="1325880"/>
            <a:ext cx="3520440" cy="40690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16552" y="1399032"/>
            <a:ext cx="3374136" cy="632968"/>
          </a:xfrm>
          <a:prstGeom prst="roundRect">
            <a:avLst>
              <a:gd name="adj" fmla="val 17391"/>
            </a:avLst>
          </a:prstGeom>
          <a:solidFill>
            <a:srgbClr val="0E9F8E">
              <a:alpha val="98000"/>
            </a:srgbClr>
          </a:solidFill>
          <a:ln w="12700">
            <a:solidFill>
              <a:srgbClr val="0E9F8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9912" y="1563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</a:rPr>
              <a:t>↔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312664" y="1540764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2. Solución trazable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53712" y="1947672"/>
            <a:ext cx="3099816" cy="3319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MediCita conecta evidencia de entrevistas, RF/RNF, casos de uso, historias, criterios, componentes, mockups y MVP.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183880" y="1325880"/>
            <a:ext cx="3520440" cy="40690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57032" y="1399032"/>
            <a:ext cx="3374136" cy="632968"/>
          </a:xfrm>
          <a:prstGeom prst="roundRect">
            <a:avLst>
              <a:gd name="adj" fmla="val 17391"/>
            </a:avLst>
          </a:prstGeom>
          <a:solidFill>
            <a:srgbClr val="F28C28">
              <a:alpha val="98000"/>
            </a:srgbClr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67344" y="1536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</a:rPr>
              <a:t>✓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070848" y="1536192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3. Validación honesta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94192" y="1947672"/>
            <a:ext cx="3099816" cy="3319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El walkthrough mostró qué funciona y qué debe refinarse; la prueba técnica verificó 20 de 22 RF Must.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84048" y="6574536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FFFFFF"/>
                </a:solidFill>
              </a:rPr>
              <a:t>MediCita • Defensa final ISR-401 • UTEQ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8412480" y="6547104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FFFFFF"/>
                </a:solidFill>
              </a:rPr>
              <a:t>Steven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F"/>
          </a:solidFill>
          <a:ln w="12700">
            <a:solidFill>
              <a:srgbClr val="F6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F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Problema: fragmentación del proceso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38912" y="7863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</a:rPr>
              <a:t>Antes de MediCita, la información no viajaba como un flujo integrado</a:t>
            </a:r>
            <a:endParaRPr lang="en-US" sz="1300" dirty="0"/>
          </a:p>
        </p:txBody>
      </p:sp>
      <p:pic>
        <p:nvPicPr>
          <p:cNvPr id="7" name="Image 0" descr="/mnt/data/a_wide_clean_modern_vector_illustration_flat_bu.png"/>
          <p:cNvPicPr>
            <a:picLocks noChangeAspect="1"/>
          </p:cNvPicPr>
          <p:nvPr/>
        </p:nvPicPr>
        <p:blipFill>
          <a:blip r:embed="rId3"/>
          <a:srcRect l="16697" r="16697"/>
          <a:stretch/>
        </p:blipFill>
        <p:spPr>
          <a:xfrm>
            <a:off x="182880" y="1078992"/>
            <a:ext cx="5897880" cy="4983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55080" y="1133856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28232" y="1207008"/>
            <a:ext cx="2459736" cy="420624"/>
          </a:xfrm>
          <a:prstGeom prst="roundRect">
            <a:avLst>
              <a:gd name="adj" fmla="val 17391"/>
            </a:avLst>
          </a:prstGeom>
          <a:solidFill>
            <a:srgbClr val="0B64B0">
              <a:alpha val="98000"/>
            </a:srgbClr>
          </a:solidFill>
          <a:ln w="12700">
            <a:solidFill>
              <a:srgbClr val="0B64B0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19672" y="12298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0" y="128016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Citas y turnos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565392" y="1755648"/>
            <a:ext cx="2185416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Disponibilidad, cancelaciones y cambios dependían de controles separados.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9189720" y="1133856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262872" y="1207008"/>
            <a:ext cx="2459736" cy="420624"/>
          </a:xfrm>
          <a:prstGeom prst="roundRect">
            <a:avLst>
              <a:gd name="adj" fmla="val 17391"/>
            </a:avLst>
          </a:prstGeom>
          <a:solidFill>
            <a:srgbClr val="0B64B0">
              <a:alpha val="98000"/>
            </a:srgbClr>
          </a:solidFill>
          <a:ln w="12700">
            <a:solidFill>
              <a:srgbClr val="0B64B0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54312" y="12298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692640" y="128016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Historia clínica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9400032" y="1755648"/>
            <a:ext cx="2185416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Búsqueda lenta y seguimiento disperso entre documentos o áreas.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6355080" y="27889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28232" y="2862072"/>
            <a:ext cx="2459736" cy="420624"/>
          </a:xfrm>
          <a:prstGeom prst="roundRect">
            <a:avLst>
              <a:gd name="adj" fmla="val 17391"/>
            </a:avLst>
          </a:prstGeom>
          <a:solidFill>
            <a:srgbClr val="0E9F8E">
              <a:alpha val="98000"/>
            </a:srgbClr>
          </a:solidFill>
          <a:ln w="12700">
            <a:solidFill>
              <a:srgbClr val="0E9F8E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19672" y="28849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58000" y="2935224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Pagos y flujo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565392" y="3410712"/>
            <a:ext cx="2185416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Recepción y recaudación necesitaban mejor trazabilidad del recorrido.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9189720" y="27889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262872" y="2862072"/>
            <a:ext cx="2459736" cy="420624"/>
          </a:xfrm>
          <a:prstGeom prst="roundRect">
            <a:avLst>
              <a:gd name="adj" fmla="val 17391"/>
            </a:avLst>
          </a:prstGeom>
          <a:solidFill>
            <a:srgbClr val="0E9F8E">
              <a:alpha val="98000"/>
            </a:srgbClr>
          </a:solidFill>
          <a:ln w="12700">
            <a:solidFill>
              <a:srgbClr val="0E9F8E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54312" y="28849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692640" y="2935224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Medicamentos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9400032" y="3410712"/>
            <a:ext cx="2185416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Recetas, entrega e inventario requerían vínculo claro con paciente y área.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384048" y="6574536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FFFFFF"/>
                </a:solidFill>
              </a:rPr>
              <a:t>MediCita • Defensa final ISR-401 • UTEQ</a:t>
            </a:r>
            <a:endParaRPr lang="en-US" sz="860" dirty="0"/>
          </a:p>
        </p:txBody>
      </p:sp>
      <p:sp>
        <p:nvSpPr>
          <p:cNvPr id="30" name="Text 27"/>
          <p:cNvSpPr/>
          <p:nvPr/>
        </p:nvSpPr>
        <p:spPr>
          <a:xfrm>
            <a:off x="8412480" y="6547104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FFFFFF"/>
                </a:solidFill>
              </a:rPr>
              <a:t>Steven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F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Método: de evidencia a verificación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38912" y="7863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</a:rPr>
              <a:t>El proyecto no termina en el prototipo: termina en la trazabilidad comprobable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1143000" cy="1143000"/>
          </a:xfrm>
          <a:prstGeom prst="ellipse">
            <a:avLst/>
          </a:prstGeom>
          <a:solidFill>
            <a:srgbClr val="0B64B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7276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8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26334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</a:rPr>
              <a:t>Entrevistas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45920" y="1892808"/>
            <a:ext cx="685800" cy="0"/>
          </a:xfrm>
          <a:prstGeom prst="line">
            <a:avLst/>
          </a:prstGeom>
          <a:noFill/>
          <a:ln w="25400">
            <a:solidFill>
              <a:srgbClr val="0B2F5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31720" y="1325880"/>
            <a:ext cx="1143000" cy="1143000"/>
          </a:xfrm>
          <a:prstGeom prst="ellipse">
            <a:avLst/>
          </a:prstGeom>
          <a:solidFill>
            <a:srgbClr val="0E9F8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58568" y="157276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C01-C49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03120" y="26334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</a:rPr>
              <a:t>Codificación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74720" y="1892808"/>
            <a:ext cx="685800" cy="0"/>
          </a:xfrm>
          <a:prstGeom prst="line">
            <a:avLst/>
          </a:prstGeom>
          <a:noFill/>
          <a:ln w="25400">
            <a:solidFill>
              <a:srgbClr val="0B2F5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160520" y="1325880"/>
            <a:ext cx="1143000" cy="1143000"/>
          </a:xfrm>
          <a:prstGeom prst="ellipse">
            <a:avLst/>
          </a:prstGeom>
          <a:solidFill>
            <a:srgbClr val="0B64B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87368" y="157276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40 RF + 19 RNF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931920" y="26334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</a:rPr>
              <a:t>ERS/SRS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03520" y="1892808"/>
            <a:ext cx="685800" cy="0"/>
          </a:xfrm>
          <a:prstGeom prst="line">
            <a:avLst/>
          </a:prstGeom>
          <a:noFill/>
          <a:ln w="25400">
            <a:solidFill>
              <a:srgbClr val="0B2F5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989320" y="1325880"/>
            <a:ext cx="1143000" cy="1143000"/>
          </a:xfrm>
          <a:prstGeom prst="ellipse">
            <a:avLst/>
          </a:prstGeom>
          <a:solidFill>
            <a:srgbClr val="0E9F8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16168" y="157276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MVP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60720" y="26334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</a:rPr>
              <a:t>Prototipo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32320" y="1892808"/>
            <a:ext cx="685800" cy="0"/>
          </a:xfrm>
          <a:prstGeom prst="line">
            <a:avLst/>
          </a:prstGeom>
          <a:noFill/>
          <a:ln w="25400">
            <a:solidFill>
              <a:srgbClr val="0B2F5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818120" y="1325880"/>
            <a:ext cx="1143000" cy="1143000"/>
          </a:xfrm>
          <a:prstGeom prst="ellipse">
            <a:avLst/>
          </a:prstGeom>
          <a:solidFill>
            <a:srgbClr val="0B64B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44968" y="157276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589520" y="26334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</a:rPr>
              <a:t>Walkthrough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961120" y="1892808"/>
            <a:ext cx="685800" cy="0"/>
          </a:xfrm>
          <a:prstGeom prst="line">
            <a:avLst/>
          </a:prstGeom>
          <a:noFill/>
          <a:ln w="25400">
            <a:solidFill>
              <a:srgbClr val="0B2F5B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646920" y="1325880"/>
            <a:ext cx="1143000" cy="1143000"/>
          </a:xfrm>
          <a:prstGeom prst="ellipse">
            <a:avLst/>
          </a:prstGeom>
          <a:solidFill>
            <a:srgbClr val="0E9F8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73768" y="157276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Prueba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418320" y="26334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</a:rPr>
              <a:t>RF Must</a:t>
            </a:r>
            <a:endParaRPr lang="en-US" sz="1300" dirty="0"/>
          </a:p>
        </p:txBody>
      </p:sp>
      <p:pic>
        <p:nvPicPr>
          <p:cNvPr id="30" name="Image 0" descr="/mnt/data/wide_infographic_style_illustration_on_a_white_bac.png"/>
          <p:cNvPicPr>
            <a:picLocks noChangeAspect="1"/>
          </p:cNvPicPr>
          <p:nvPr/>
        </p:nvPicPr>
        <p:blipFill>
          <a:blip r:embed="rId3"/>
          <a:srcRect t="11706" b="11706"/>
          <a:stretch/>
        </p:blipFill>
        <p:spPr>
          <a:xfrm>
            <a:off x="594360" y="3429000"/>
            <a:ext cx="5303520" cy="228600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6309360" y="3529584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EAF6FF"/>
          </a:solidFill>
          <a:ln w="12700">
            <a:solidFill>
              <a:srgbClr val="C7E2F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10528" y="37307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F5B"/>
                </a:solidFill>
              </a:rPr>
              <a:t>Resultado metodológico</a:t>
            </a:r>
            <a:endParaRPr lang="en-US" sz="2100" dirty="0"/>
          </a:p>
        </p:txBody>
      </p:sp>
      <p:sp>
        <p:nvSpPr>
          <p:cNvPr id="33" name="Text 30"/>
          <p:cNvSpPr/>
          <p:nvPr/>
        </p:nvSpPr>
        <p:spPr>
          <a:xfrm>
            <a:off x="6510528" y="4160520"/>
            <a:ext cx="470916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D"/>
                </a:solidFill>
              </a:rPr>
              <a:t>Cada hallazgo se transformó en evidencia rastreable: observación → requisito → criterio → componente → prototipo → verificación.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6510528" y="5074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9F8E"/>
                </a:solidFill>
              </a:rPr>
              <a:t>Esto permite defender decisiones, no solo mostrar pantallas.</a:t>
            </a:r>
            <a:endParaRPr lang="en-US" sz="1900" dirty="0"/>
          </a:p>
        </p:txBody>
      </p:sp>
      <p:sp>
        <p:nvSpPr>
          <p:cNvPr id="35" name="Text 32"/>
          <p:cNvSpPr/>
          <p:nvPr/>
        </p:nvSpPr>
        <p:spPr>
          <a:xfrm>
            <a:off x="384048" y="6574536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FFFFFF"/>
                </a:solidFill>
              </a:rPr>
              <a:t>MediCita • Defensa final ISR-401 • UTEQ</a:t>
            </a:r>
            <a:endParaRPr lang="en-US" sz="860" dirty="0"/>
          </a:p>
        </p:txBody>
      </p:sp>
      <p:sp>
        <p:nvSpPr>
          <p:cNvPr id="36" name="Text 33"/>
          <p:cNvSpPr/>
          <p:nvPr/>
        </p:nvSpPr>
        <p:spPr>
          <a:xfrm>
            <a:off x="8412480" y="6547104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FFFFFF"/>
                </a:solidFill>
              </a:rPr>
              <a:t>Jamileth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F"/>
          </a:solidFill>
          <a:ln w="12700">
            <a:solidFill>
              <a:srgbClr val="F6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F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Repositorio como evidencia auditable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38912" y="7863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</a:rPr>
              <a:t>La defensa se sostiene en carpetas, no en afirmaciones sueltas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36499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  <a:effectLst>
            <a:outerShdw blurRad="12700" dist="50800" dir="2700000" algn="bl" rotWithShape="0">
              <a:srgbClr val="B4CAD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13533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F5B"/>
                </a:solidFill>
              </a:rPr>
              <a:t>01_ERS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13232" y="17190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324D"/>
                </a:solidFill>
              </a:rPr>
              <a:t>Línea base RF/RNF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43400" y="1188720"/>
            <a:ext cx="336499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  <a:effectLst>
            <a:outerShdw blurRad="12700" dist="50800" dir="2700000" algn="bl" rotWithShape="0">
              <a:srgbClr val="B4CAD8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07992" y="13533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F5B"/>
                </a:solidFill>
              </a:rPr>
              <a:t>02_Evidencias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07992" y="17190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324D"/>
                </a:solidFill>
              </a:rPr>
              <a:t>Elicitación y validación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38160" y="1188720"/>
            <a:ext cx="336499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  <a:effectLst>
            <a:outerShdw blurRad="12700" dist="50800" dir="2700000" algn="bl" rotWithShape="0">
              <a:srgbClr val="B4CAD8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02752" y="13533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F5B"/>
                </a:solidFill>
              </a:rPr>
              <a:t>03_Modelado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302752" y="17190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324D"/>
                </a:solidFill>
              </a:rPr>
              <a:t>UML + mockups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336499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  <a:effectLst>
            <a:outerShdw blurRad="12700" dist="50800" dir="2700000" algn="bl" rotWithShape="0">
              <a:srgbClr val="B4CAD8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" y="29077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F5B"/>
                </a:solidFill>
              </a:rPr>
              <a:t>04_Trazabilidad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13232" y="32735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324D"/>
                </a:solidFill>
              </a:rPr>
              <a:t>72 filas trazables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343400" y="2743200"/>
            <a:ext cx="336499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  <a:effectLst>
            <a:outerShdw blurRad="12700" dist="50800" dir="2700000" algn="bl" rotWithShape="0">
              <a:srgbClr val="B4CAD8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07992" y="29077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F5B"/>
                </a:solidFill>
              </a:rPr>
              <a:t>05_MVP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4507992" y="32735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324D"/>
                </a:solidFill>
              </a:rPr>
              <a:t>Prototipo y demo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138160" y="2743200"/>
            <a:ext cx="336499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  <a:effectLst>
            <a:outerShdw blurRad="12700" dist="50800" dir="2700000" algn="bl" rotWithShape="0">
              <a:srgbClr val="B4CAD8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02752" y="29077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F5B"/>
                </a:solidFill>
              </a:rPr>
              <a:t>06_Experimento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8302752" y="32735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324D"/>
                </a:solidFill>
              </a:rPr>
              <a:t>Análisis reproducible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48640" y="4297680"/>
            <a:ext cx="336499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  <a:effectLst>
            <a:outerShdw blurRad="12700" dist="50800" dir="2700000" algn="bl" rotWithShape="0">
              <a:srgbClr val="B4CAD8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3232" y="44622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F5B"/>
                </a:solidFill>
              </a:rPr>
              <a:t>07_Datos/Publ.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13232" y="4828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324D"/>
                </a:solidFill>
              </a:rPr>
              <a:t>Dataset y manuscrito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4343400" y="4297680"/>
            <a:ext cx="336499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  <a:effectLst>
            <a:outerShdw blurRad="12700" dist="50800" dir="2700000" algn="bl" rotWithShape="0">
              <a:srgbClr val="B4CAD8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07992" y="44622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F5B"/>
                </a:solidFill>
              </a:rPr>
              <a:t>08_Etica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4507992" y="4828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324D"/>
                </a:solidFill>
              </a:rPr>
              <a:t>Protección y consentimiento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8138160" y="4297680"/>
            <a:ext cx="336499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  <a:effectLst>
            <a:outerShdw blurRad="12700" dist="50800" dir="2700000" algn="bl" rotWithShape="0">
              <a:srgbClr val="B4CAD8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302752" y="44622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F5B"/>
                </a:solidFill>
              </a:rPr>
              <a:t>09_Defensa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8302752" y="4828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324D"/>
                </a:solidFill>
              </a:rPr>
              <a:t>Materiales finales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914400" y="598932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F5B"/>
                </a:solidFill>
              </a:rPr>
              <a:t>Defensa recomendada: abrir el repo y mostrar que cada diapositiva tiene una carpeta que la respalda.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84048" y="6574536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FFFFFF"/>
                </a:solidFill>
              </a:rPr>
              <a:t>MediCita • Defensa final ISR-401 • UTEQ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8412480" y="6547104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FFFFFF"/>
                </a:solidFill>
              </a:rPr>
              <a:t>Jamileth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F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ERS/SRS: línea base defendible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38912" y="7863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</a:rPr>
              <a:t>La especificación final tiene alcance definido y medible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CBE4F5"/>
            </a:solidFill>
            <a:prstDash val="solid"/>
          </a:ln>
          <a:effectLst>
            <a:outerShdw blurRad="12700" dist="50800" dir="2700000" algn="bl" rotWithShape="0">
              <a:srgbClr val="BFD8EA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1389888"/>
            <a:ext cx="621792" cy="621792"/>
          </a:xfrm>
          <a:prstGeom prst="ellipse">
            <a:avLst/>
          </a:prstGeom>
          <a:solidFill>
            <a:srgbClr val="0B64B0"/>
          </a:solidFill>
          <a:ln w="12700">
            <a:solidFill>
              <a:srgbClr val="0B64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408176"/>
            <a:ext cx="15727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F5B"/>
                </a:solidFill>
              </a:rPr>
              <a:t>40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463040" y="18379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24D"/>
                </a:solidFill>
              </a:rPr>
              <a:t>RF activos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64992" y="123444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CBE4F5"/>
            </a:solidFill>
            <a:prstDash val="solid"/>
          </a:ln>
          <a:effectLst>
            <a:outerShdw blurRad="12700" dist="50800" dir="2700000" algn="bl" rotWithShape="0">
              <a:srgbClr val="BFD8EA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93008" y="1389888"/>
            <a:ext cx="621792" cy="621792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33672" y="1408176"/>
            <a:ext cx="15727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F5B"/>
                </a:solidFill>
              </a:rPr>
              <a:t>19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233672" y="18379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24D"/>
                </a:solidFill>
              </a:rPr>
              <a:t>RNF activos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44768" y="123444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CBE4F5"/>
            </a:solidFill>
            <a:prstDash val="solid"/>
          </a:ln>
          <a:effectLst>
            <a:outerShdw blurRad="12700" dist="50800" dir="2700000" algn="bl" rotWithShape="0">
              <a:srgbClr val="BFD8EA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2784" y="1389888"/>
            <a:ext cx="621792" cy="62179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13448" y="1408176"/>
            <a:ext cx="15727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F5B"/>
                </a:solidFill>
              </a:rPr>
              <a:t>33+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7013448" y="18379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24D"/>
                </a:solidFill>
              </a:rPr>
              <a:t>Casos de uso / flujos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15400" y="123444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CBE4F5"/>
            </a:solidFill>
            <a:prstDash val="solid"/>
          </a:ln>
          <a:effectLst>
            <a:outerShdw blurRad="12700" dist="50800" dir="2700000" algn="bl" rotWithShape="0">
              <a:srgbClr val="BFD8EA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43416" y="1389888"/>
            <a:ext cx="621792" cy="621792"/>
          </a:xfrm>
          <a:prstGeom prst="ellipse">
            <a:avLst/>
          </a:prstGeom>
          <a:solidFill>
            <a:srgbClr val="1EAD68"/>
          </a:solidFill>
          <a:ln w="12700">
            <a:solidFill>
              <a:srgbClr val="1EAD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0" y="1408176"/>
            <a:ext cx="15727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F5B"/>
                </a:solidFill>
              </a:rPr>
              <a:t>72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9784080" y="18379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24D"/>
                </a:solidFill>
              </a:rPr>
              <a:t>Trazas vigentes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278892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4672" y="2862072"/>
            <a:ext cx="3236976" cy="420624"/>
          </a:xfrm>
          <a:prstGeom prst="roundRect">
            <a:avLst>
              <a:gd name="adj" fmla="val 17391"/>
            </a:avLst>
          </a:prstGeom>
          <a:solidFill>
            <a:srgbClr val="0B64B0">
              <a:alpha val="98000"/>
            </a:srgbClr>
          </a:solidFill>
          <a:ln w="12700">
            <a:solidFill>
              <a:srgbClr val="0B64B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28849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34440" y="2935224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Lo que sí se especificó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41832" y="3410712"/>
            <a:ext cx="2962656" cy="1216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Citas, pacientes, historia clínica, recetas, pagos, turnos, signos vitales, inventario, roles, reportes y auditoría.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4407408" y="278892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80560" y="2862072"/>
            <a:ext cx="3236976" cy="420624"/>
          </a:xfrm>
          <a:prstGeom prst="roundRect">
            <a:avLst>
              <a:gd name="adj" fmla="val 17391"/>
            </a:avLst>
          </a:prstGeom>
          <a:solidFill>
            <a:srgbClr val="F28C28">
              <a:alpha val="98000"/>
            </a:srgbClr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28849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!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910328" y="2935224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Lo que no se promete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617720" y="3410712"/>
            <a:ext cx="2962656" cy="1216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No se declara sistema clínico validado, diagnóstico automático ni operación productiva real.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8083296" y="278892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56448" y="2862072"/>
            <a:ext cx="3236976" cy="420624"/>
          </a:xfrm>
          <a:prstGeom prst="roundRect">
            <a:avLst>
              <a:gd name="adj" fmla="val 17391"/>
            </a:avLst>
          </a:prstGeom>
          <a:solidFill>
            <a:srgbClr val="0E9F8E">
              <a:alpha val="98000"/>
            </a:srgbClr>
          </a:solidFill>
          <a:ln w="12700">
            <a:solidFill>
              <a:srgbClr val="0E9F8E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47888" y="28849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↔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586216" y="2935224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Control de calidad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293608" y="3410712"/>
            <a:ext cx="2962656" cy="1216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Los RNF incorporan seguridad, disponibilidad, usabilidad, trazabilidad, IA explicable y monitoreo posterior.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384048" y="6574536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FFFFFF"/>
                </a:solidFill>
              </a:rPr>
              <a:t>MediCita • Defensa final ISR-401 • UTEQ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8412480" y="6547104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FFFFFF"/>
                </a:solidFill>
              </a:rPr>
              <a:t>Jamileth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F"/>
          </a:solidFill>
          <a:ln w="12700">
            <a:solidFill>
              <a:srgbClr val="F6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F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MVP: prototipo funcional y demostrable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38912" y="7863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</a:rPr>
              <a:t>Publicado, autocontenido y centrado en los flujos priorizados</a:t>
            </a:r>
            <a:endParaRPr lang="en-US" sz="1300" dirty="0"/>
          </a:p>
        </p:txBody>
      </p:sp>
      <p:pic>
        <p:nvPicPr>
          <p:cNvPr id="7" name="Image 0" descr="/mnt/data/wide_clean_modern_medical_healthcare_office_or_h.png"/>
          <p:cNvPicPr>
            <a:picLocks noChangeAspect="1"/>
          </p:cNvPicPr>
          <p:nvPr/>
        </p:nvPicPr>
        <p:blipFill>
          <a:blip r:embed="rId3"/>
          <a:srcRect l="420" r="420"/>
          <a:stretch/>
        </p:blipFill>
        <p:spPr>
          <a:xfrm>
            <a:off x="6583680" y="1005840"/>
            <a:ext cx="5074920" cy="2880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152144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7512" y="1225296"/>
            <a:ext cx="2459736" cy="420624"/>
          </a:xfrm>
          <a:prstGeom prst="roundRect">
            <a:avLst>
              <a:gd name="adj" fmla="val 17391"/>
            </a:avLst>
          </a:prstGeom>
          <a:solidFill>
            <a:srgbClr val="0B64B0">
              <a:alpha val="98000"/>
            </a:srgbClr>
          </a:solidFill>
          <a:ln w="12700">
            <a:solidFill>
              <a:srgbClr val="0B64B0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12481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&lt;/&gt;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97280" y="1298448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Tecnología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04672" y="1773936"/>
            <a:ext cx="2185416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HTML, CSS, JavaScript, GitHub Pages y Docker para ejecución local.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3456432" y="1152144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29584" y="1225296"/>
            <a:ext cx="2459736" cy="420624"/>
          </a:xfrm>
          <a:prstGeom prst="roundRect">
            <a:avLst>
              <a:gd name="adj" fmla="val 17391"/>
            </a:avLst>
          </a:prstGeom>
          <a:solidFill>
            <a:srgbClr val="0E9F8E">
              <a:alpha val="98000"/>
            </a:srgbClr>
          </a:solidFill>
          <a:ln w="12700">
            <a:solidFill>
              <a:srgbClr val="0E9F8E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21024" y="12481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⏱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959352" y="1298448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Duración demo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3666744" y="1773936"/>
            <a:ext cx="2185416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Recorrido guiado aproximado de 5 minutos con 20 escenas.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94360" y="2852928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7512" y="2926080"/>
            <a:ext cx="2459736" cy="420624"/>
          </a:xfrm>
          <a:prstGeom prst="roundRect">
            <a:avLst>
              <a:gd name="adj" fmla="val 17391"/>
            </a:avLst>
          </a:prstGeom>
          <a:solidFill>
            <a:srgbClr val="1EAD68">
              <a:alpha val="98000"/>
            </a:srgbClr>
          </a:solidFill>
          <a:ln w="12700">
            <a:solidFill>
              <a:srgbClr val="1EAD68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8952" y="29489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👥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097280" y="2999232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Roles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04672" y="3474720"/>
            <a:ext cx="2185416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Paciente, recepción, recaudación, enfermería, médicos, psicología, nutrición y coordinación.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3456432" y="2852928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529584" y="2926080"/>
            <a:ext cx="2459736" cy="420624"/>
          </a:xfrm>
          <a:prstGeom prst="roundRect">
            <a:avLst>
              <a:gd name="adj" fmla="val 17391"/>
            </a:avLst>
          </a:prstGeom>
          <a:solidFill>
            <a:srgbClr val="F28C28">
              <a:alpha val="98000"/>
            </a:srgbClr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21024" y="29489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⚠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3959352" y="2999232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Alcance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3666744" y="3474720"/>
            <a:ext cx="2185416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Datos ficticios. No almacena historia real ni procesa pagos reales.</a:t>
            </a:r>
            <a:endParaRPr lang="en-US" sz="1550" dirty="0"/>
          </a:p>
        </p:txBody>
      </p:sp>
      <p:sp>
        <p:nvSpPr>
          <p:cNvPr id="28" name="Text 25"/>
          <p:cNvSpPr/>
          <p:nvPr/>
        </p:nvSpPr>
        <p:spPr>
          <a:xfrm>
            <a:off x="822960" y="496519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F5B"/>
                </a:solidFill>
              </a:rPr>
              <a:t>La defensa debe mostrar el MVP como evidencia de correspondencia funcional, no como software hospitalario listo para producción.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384048" y="6574536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FFFFFF"/>
                </a:solidFill>
              </a:rPr>
              <a:t>MediCita • Defensa final ISR-401 • UTEQ</a:t>
            </a:r>
            <a:endParaRPr lang="en-US" sz="860" dirty="0"/>
          </a:p>
        </p:txBody>
      </p:sp>
      <p:sp>
        <p:nvSpPr>
          <p:cNvPr id="30" name="Text 27"/>
          <p:cNvSpPr/>
          <p:nvPr/>
        </p:nvSpPr>
        <p:spPr>
          <a:xfrm>
            <a:off x="8412480" y="6547104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FFFFFF"/>
                </a:solidFill>
              </a:rPr>
              <a:t>Thais</a:t>
            </a:r>
            <a:endParaRPr lang="en-US" sz="8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F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Flujos críticos que se deben defender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38912" y="7863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</a:rPr>
              <a:t>Lo importante es contar el recorrido del paciente y de la información</a:t>
            </a:r>
            <a:endParaRPr lang="en-US" sz="1300" dirty="0"/>
          </a:p>
        </p:txBody>
      </p:sp>
      <p:pic>
        <p:nvPicPr>
          <p:cNvPr id="7" name="Image 0" descr="/mnt/data/a_wide_clean_modern_vector_illustration_flat_bu.png"/>
          <p:cNvPicPr>
            <a:picLocks noChangeAspect="1"/>
          </p:cNvPicPr>
          <p:nvPr/>
        </p:nvPicPr>
        <p:blipFill>
          <a:blip r:embed="rId3"/>
          <a:srcRect t="28864" b="28864"/>
          <a:stretch/>
        </p:blipFill>
        <p:spPr>
          <a:xfrm>
            <a:off x="411480" y="1051560"/>
            <a:ext cx="11338560" cy="2697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06908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4169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64B0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41832" y="416052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F5B"/>
                </a:solidFill>
              </a:rPr>
              <a:t>Registro / búsqueda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67512" y="4526280"/>
            <a:ext cx="17190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</a:rPr>
              <a:t>Recepción identifica al paciente y lo vincula con cita o atención.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2834640" y="406908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EAF6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07792" y="4169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64B0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273552" y="416052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F5B"/>
                </a:solidFill>
              </a:rPr>
              <a:t>Signos vitales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2999232" y="4526280"/>
            <a:ext cx="17190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</a:rPr>
              <a:t>Enfermería registra datos clínicos iniciales y deriva.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5166360" y="406908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39512" y="4169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64B0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605272" y="416052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F5B"/>
                </a:solidFill>
              </a:rPr>
              <a:t>Atención clínica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330952" y="4526280"/>
            <a:ext cx="17190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</a:rPr>
              <a:t>Área médica registra diagnóstico, evolución o plan.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7498080" y="406908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EAF6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71232" y="4169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64B0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936992" y="416052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F5B"/>
                </a:solidFill>
              </a:rPr>
              <a:t>Receta y entrega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7662672" y="4526280"/>
            <a:ext cx="17190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</a:rPr>
              <a:t>Medicina/Odontología prescribe; Enfermería entrega y marca trazabilidad.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9829800" y="406908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902952" y="4169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64B0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0268712" y="416052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F5B"/>
                </a:solidFill>
              </a:rPr>
              <a:t>Reporte / auditoría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9994392" y="4526280"/>
            <a:ext cx="17190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</a:rPr>
              <a:t>Coordinación consulta indicadores y acciones relevantes.</a:t>
            </a:r>
            <a:endParaRPr lang="en-US" sz="1080" dirty="0"/>
          </a:p>
        </p:txBody>
      </p:sp>
      <p:sp>
        <p:nvSpPr>
          <p:cNvPr id="28" name="Text 25"/>
          <p:cNvSpPr/>
          <p:nvPr/>
        </p:nvSpPr>
        <p:spPr>
          <a:xfrm>
            <a:off x="384048" y="6574536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FFFFFF"/>
                </a:solidFill>
              </a:rPr>
              <a:t>MediCita • Defensa final ISR-401 • UTEQ</a:t>
            </a:r>
            <a:endParaRPr lang="en-US" sz="860" dirty="0"/>
          </a:p>
        </p:txBody>
      </p:sp>
      <p:sp>
        <p:nvSpPr>
          <p:cNvPr id="29" name="Text 26"/>
          <p:cNvSpPr/>
          <p:nvPr/>
        </p:nvSpPr>
        <p:spPr>
          <a:xfrm>
            <a:off x="8412480" y="6547104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FFFFFF"/>
                </a:solidFill>
              </a:rPr>
              <a:t>Thais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F"/>
          </a:solidFill>
          <a:ln w="12700">
            <a:solidFill>
              <a:srgbClr val="F6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F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Walkthrough: qué ocurrió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38912" y="7863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</a:rPr>
              <a:t>El prototipo permitió observar tareas, problemas y refinamientos reales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CBE4F5"/>
            </a:solidFill>
            <a:prstDash val="solid"/>
          </a:ln>
          <a:effectLst>
            <a:outerShdw blurRad="12700" dist="50800" dir="2700000" algn="bl" rotWithShape="0">
              <a:srgbClr val="BFD8EA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0936" y="1252728"/>
            <a:ext cx="621792" cy="621792"/>
          </a:xfrm>
          <a:prstGeom prst="ellipse">
            <a:avLst/>
          </a:prstGeom>
          <a:solidFill>
            <a:srgbClr val="0B64B0"/>
          </a:solidFill>
          <a:ln w="12700">
            <a:solidFill>
              <a:srgbClr val="0B64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271016"/>
            <a:ext cx="14813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F5B"/>
                </a:solidFill>
              </a:rPr>
              <a:t>10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371600" y="17007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24D"/>
                </a:solidFill>
              </a:rPr>
              <a:t>Sesiones con transcripción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109728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CBE4F5"/>
            </a:solidFill>
            <a:prstDash val="solid"/>
          </a:ln>
          <a:effectLst>
            <a:outerShdw blurRad="12700" dist="50800" dir="2700000" algn="bl" rotWithShape="0">
              <a:srgbClr val="BFD8EA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82696" y="1252728"/>
            <a:ext cx="621792" cy="621792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271016"/>
            <a:ext cx="14813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F5B"/>
                </a:solidFill>
              </a:rPr>
              <a:t>46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023360" y="17007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24D"/>
                </a:solidFill>
              </a:rPr>
              <a:t>Observaciones procesadas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06440" y="109728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CBE4F5"/>
            </a:solidFill>
            <a:prstDash val="solid"/>
          </a:ln>
          <a:effectLst>
            <a:outerShdw blurRad="12700" dist="50800" dir="2700000" algn="bl" rotWithShape="0">
              <a:srgbClr val="BFD8EA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34456" y="1252728"/>
            <a:ext cx="621792" cy="621792"/>
          </a:xfrm>
          <a:prstGeom prst="ellipse">
            <a:avLst/>
          </a:prstGeom>
          <a:solidFill>
            <a:srgbClr val="1EAD68"/>
          </a:solidFill>
          <a:ln w="12700">
            <a:solidFill>
              <a:srgbClr val="1EAD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271016"/>
            <a:ext cx="14813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F5B"/>
                </a:solidFill>
              </a:rPr>
              <a:t>72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6675120" y="17007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24D"/>
                </a:solidFill>
              </a:rPr>
              <a:t>Relaciones obs.-requisito</a:t>
            </a:r>
            <a:endParaRPr lang="en-US" sz="105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685800" y="2743200"/>
          <a:ext cx="498348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6126480" y="27432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199632" y="2816352"/>
            <a:ext cx="2505456" cy="420624"/>
          </a:xfrm>
          <a:prstGeom prst="roundRect">
            <a:avLst>
              <a:gd name="adj" fmla="val 17391"/>
            </a:avLst>
          </a:prstGeom>
          <a:solidFill>
            <a:srgbClr val="0B64B0">
              <a:alpha val="98000"/>
            </a:srgbClr>
          </a:solidFill>
          <a:ln w="12700">
            <a:solidFill>
              <a:srgbClr val="0B64B0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91072" y="28392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629400" y="2889504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Interpretación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336792" y="3364992"/>
            <a:ext cx="2231136" cy="10789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39 tareas completadas con observación no significan fracaso: indican oportunidades de refinamiento.</a:t>
            </a:r>
            <a:endParaRPr lang="en-US" sz="1550" dirty="0"/>
          </a:p>
        </p:txBody>
      </p:sp>
      <p:sp>
        <p:nvSpPr>
          <p:cNvPr id="25" name="Shape 22"/>
          <p:cNvSpPr/>
          <p:nvPr/>
        </p:nvSpPr>
        <p:spPr>
          <a:xfrm>
            <a:off x="9052560" y="27432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125712" y="2816352"/>
            <a:ext cx="2505456" cy="420624"/>
          </a:xfrm>
          <a:prstGeom prst="roundRect">
            <a:avLst>
              <a:gd name="adj" fmla="val 17391"/>
            </a:avLst>
          </a:prstGeom>
          <a:solidFill>
            <a:srgbClr val="F28C28">
              <a:alpha val="98000"/>
            </a:srgbClr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217152" y="28392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!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555480" y="2889504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Hallazgos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9262872" y="3364992"/>
            <a:ext cx="2231136" cy="10789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Los problemas se concentran en legibilidad, agenda, permisos, datos y flujo por rol.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384048" y="6574536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FFFFFF"/>
                </a:solidFill>
              </a:rPr>
              <a:t>MediCita • Defensa final ISR-401 • UTEQ</a:t>
            </a:r>
            <a:endParaRPr lang="en-US" sz="860" dirty="0"/>
          </a:p>
        </p:txBody>
      </p:sp>
      <p:sp>
        <p:nvSpPr>
          <p:cNvPr id="31" name="Text 28"/>
          <p:cNvSpPr/>
          <p:nvPr/>
        </p:nvSpPr>
        <p:spPr>
          <a:xfrm>
            <a:off x="8412480" y="6547104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FFFFFF"/>
                </a:solidFill>
              </a:rPr>
              <a:t>Paul</a:t>
            </a:r>
            <a:endParaRPr lang="en-US" sz="8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F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Verificación técnica: RF Must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38912" y="7863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</a:rPr>
              <a:t>La prueba separa “el participante lo percibió” de “la función existe y responde”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85800" y="1298448"/>
          <a:ext cx="4251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1709928" y="285292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00" b="1" dirty="0">
                <a:solidFill>
                  <a:srgbClr val="0B2F5B"/>
                </a:solidFill>
              </a:rPr>
              <a:t>90,91%</a:t>
            </a:r>
            <a:endParaRPr lang="en-US" sz="3700" dirty="0"/>
          </a:p>
        </p:txBody>
      </p:sp>
      <p:sp>
        <p:nvSpPr>
          <p:cNvPr id="9" name="Text 6"/>
          <p:cNvSpPr/>
          <p:nvPr/>
        </p:nvSpPr>
        <p:spPr>
          <a:xfrm>
            <a:off x="1709928" y="3337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20 de 22 RF Must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349240" y="1417320"/>
            <a:ext cx="29260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22392" y="1490472"/>
            <a:ext cx="2779776" cy="420624"/>
          </a:xfrm>
          <a:prstGeom prst="roundRect">
            <a:avLst>
              <a:gd name="adj" fmla="val 17391"/>
            </a:avLst>
          </a:prstGeom>
          <a:solidFill>
            <a:srgbClr val="1EAD68">
              <a:alpha val="98000"/>
            </a:srgbClr>
          </a:solidFill>
          <a:ln w="12700">
            <a:solidFill>
              <a:srgbClr val="1EAD6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13832" y="15133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852160" y="1563624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Aprobados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559552" y="2039112"/>
            <a:ext cx="2505456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20 requisitos Must tienen verificación técnica reproducible.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8641080" y="1417320"/>
            <a:ext cx="29260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714232" y="1490472"/>
            <a:ext cx="2779776" cy="420624"/>
          </a:xfrm>
          <a:prstGeom prst="roundRect">
            <a:avLst>
              <a:gd name="adj" fmla="val 17391"/>
            </a:avLst>
          </a:prstGeom>
          <a:solidFill>
            <a:srgbClr val="F28C28">
              <a:alpha val="98000"/>
            </a:srgbClr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05672" y="15133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!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144000" y="1563624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Pendientes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851392" y="2039112"/>
            <a:ext cx="2505456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RF-09 y RF-18 quedan no cerrados en el corte final.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5349240" y="3429000"/>
            <a:ext cx="62179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422392" y="3502152"/>
            <a:ext cx="6071616" cy="420624"/>
          </a:xfrm>
          <a:prstGeom prst="roundRect">
            <a:avLst>
              <a:gd name="adj" fmla="val 17391"/>
            </a:avLst>
          </a:prstGeom>
          <a:solidFill>
            <a:srgbClr val="0B64B0">
              <a:alpha val="98000"/>
            </a:srgbClr>
          </a:solidFill>
          <a:ln w="12700">
            <a:solidFill>
              <a:srgbClr val="0B64B0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13832" y="35250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i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852160" y="3575304"/>
            <a:ext cx="5559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Lectura correcta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5559552" y="4050792"/>
            <a:ext cx="5797296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Este 90,91% no es satisfacción de usuarios ni validación clínica; es cobertura funcional reproducible de requisitos Must.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384048" y="6574536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FFFFFF"/>
                </a:solidFill>
              </a:rPr>
              <a:t>MediCita • Defensa final ISR-401 • UTEQ</a:t>
            </a:r>
            <a:endParaRPr lang="en-US" sz="860" dirty="0"/>
          </a:p>
        </p:txBody>
      </p:sp>
      <p:sp>
        <p:nvSpPr>
          <p:cNvPr id="26" name="Text 23"/>
          <p:cNvSpPr/>
          <p:nvPr/>
        </p:nvSpPr>
        <p:spPr>
          <a:xfrm>
            <a:off x="8412480" y="6547104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FFFFFF"/>
                </a:solidFill>
              </a:rPr>
              <a:t>Paul</a:t>
            </a:r>
            <a:endParaRPr lang="en-US" sz="8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F"/>
          </a:solidFill>
          <a:ln w="12700">
            <a:solidFill>
              <a:srgbClr val="F6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F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Análisis estadístico: lectura responsable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38912" y="7863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</a:rPr>
              <a:t>Los hallazgos fueron transversales, no concentrados en un solo tipo de área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51000" y="1362456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CBE4F5"/>
            </a:solidFill>
            <a:prstDash val="solid"/>
          </a:ln>
          <a:effectLst>
            <a:outerShdw blurRad="12700" dist="50800" dir="2700000" algn="bl" rotWithShape="0">
              <a:srgbClr val="BFD8EA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779016" y="1517904"/>
            <a:ext cx="621792" cy="621792"/>
          </a:xfrm>
          <a:prstGeom prst="ellipse">
            <a:avLst/>
          </a:prstGeom>
          <a:solidFill>
            <a:srgbClr val="0B64B0"/>
          </a:solidFill>
          <a:ln w="12700">
            <a:solidFill>
              <a:srgbClr val="0B64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9680" y="1536192"/>
            <a:ext cx="1847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F5B"/>
                </a:solidFill>
              </a:rPr>
              <a:t>χ² = 1,992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519680" y="19659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24D"/>
                </a:solidFill>
              </a:rPr>
              <a:t>Prueba sobre grupos de área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22800" y="1362456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CBE4F5"/>
            </a:solidFill>
            <a:prstDash val="solid"/>
          </a:ln>
          <a:effectLst>
            <a:outerShdw blurRad="12700" dist="50800" dir="2700000" algn="bl" rotWithShape="0">
              <a:srgbClr val="BFD8EA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0816" y="1517904"/>
            <a:ext cx="621792" cy="621792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91480" y="1536192"/>
            <a:ext cx="1847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F5B"/>
                </a:solidFill>
              </a:rPr>
              <a:t>p = 0,413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5491480" y="19659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24D"/>
                </a:solidFill>
              </a:rPr>
              <a:t>Sin asociación significativa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594600" y="1362456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CBE4F5"/>
            </a:solidFill>
            <a:prstDash val="solid"/>
          </a:ln>
          <a:effectLst>
            <a:outerShdw blurRad="12700" dist="50800" dir="2700000" algn="bl" rotWithShape="0">
              <a:srgbClr val="BFD8EA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22616" y="1517904"/>
            <a:ext cx="621792" cy="62179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3280" y="1536192"/>
            <a:ext cx="1847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F5B"/>
                </a:solidFill>
              </a:rPr>
              <a:t>V = 0,166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8463280" y="19659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24D"/>
                </a:solidFill>
              </a:rPr>
              <a:t>Efecto pequeño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0120" y="2926080"/>
            <a:ext cx="102412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317754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500" b="1" dirty="0">
                <a:solidFill>
                  <a:srgbClr val="0B2F5B"/>
                </a:solidFill>
              </a:rPr>
              <a:t>Que significa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1325880" y="3730752"/>
            <a:ext cx="9189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7324D"/>
                </a:solidFill>
              </a:rPr>
              <a:t>La necesidad de refinamiento no aparece como problema de una sola área. Por eso las mejoras deben abordarse en diseño transversal: legibilidad, permisos, agenda, datos y flujos.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84048" y="6574536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FFFFFF"/>
                </a:solidFill>
              </a:rPr>
              <a:t>MediCita • Defensa final ISR-401 • UTEQ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8412480" y="6547104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FFFFFF"/>
                </a:solidFill>
              </a:rPr>
              <a:t>Paul</a:t>
            </a:r>
            <a:endParaRPr lang="en-US" sz="8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F"/>
          </a:solidFill>
          <a:ln w="12700">
            <a:solidFill>
              <a:srgbClr val="F6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F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Confiabilidad y member checking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38912" y="7863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</a:rPr>
              <a:t>Dos controles de calidad nuevos, ejecutados en el cierre de esta entrega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134874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CBE4F5"/>
            </a:solidFill>
            <a:prstDash val="solid"/>
          </a:ln>
          <a:effectLst>
            <a:outerShdw blurRad="12700" dist="50800" dir="2700000" algn="bl" rotWithShape="0">
              <a:srgbClr val="BFD8EA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31136" y="1504188"/>
            <a:ext cx="621792" cy="621792"/>
          </a:xfrm>
          <a:prstGeom prst="ellipse">
            <a:avLst/>
          </a:prstGeom>
          <a:solidFill>
            <a:srgbClr val="0B64B0"/>
          </a:solidFill>
          <a:ln w="12700">
            <a:solidFill>
              <a:srgbClr val="0B64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1522476"/>
            <a:ext cx="1847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F5B"/>
                </a:solidFill>
              </a:rPr>
              <a:t>κ = 0,70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971800" y="195224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24D"/>
                </a:solidFill>
              </a:rPr>
              <a:t>Kappa de Cohen (acuerdo)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74920" y="134874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CBE4F5"/>
            </a:solidFill>
            <a:prstDash val="solid"/>
          </a:ln>
          <a:effectLst>
            <a:outerShdw blurRad="12700" dist="50800" dir="2700000" algn="bl" rotWithShape="0">
              <a:srgbClr val="BFD8EA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02936" y="1504188"/>
            <a:ext cx="621792" cy="621792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522476"/>
            <a:ext cx="1847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F5B"/>
                </a:solidFill>
              </a:rPr>
              <a:t>38 seg.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5943600" y="195224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24D"/>
                </a:solidFill>
              </a:rPr>
              <a:t>25% del corpus, 2 codificadores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134874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CBE4F5"/>
            </a:solidFill>
            <a:prstDash val="solid"/>
          </a:ln>
          <a:effectLst>
            <a:outerShdw blurRad="12700" dist="50800" dir="2700000" algn="bl" rotWithShape="0">
              <a:srgbClr val="BFD8EA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74736" y="1504188"/>
            <a:ext cx="621792" cy="62179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1522476"/>
            <a:ext cx="1847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F5B"/>
                </a:solidFill>
              </a:rPr>
              <a:t>n = 3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8915400" y="195224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24D"/>
                </a:solidFill>
              </a:rPr>
              <a:t>Member checking, 04/09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0120" y="2926080"/>
            <a:ext cx="102412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</p:spPr>
        <p:txBody>
          <a:bodyPr/>
          <a:lstStyle/>
          <a:p>
            <a:endParaRPr lang="es-EC" dirty="0"/>
          </a:p>
        </p:txBody>
      </p:sp>
      <p:sp>
        <p:nvSpPr>
          <p:cNvPr id="20" name="Text 18"/>
          <p:cNvSpPr/>
          <p:nvPr/>
        </p:nvSpPr>
        <p:spPr>
          <a:xfrm>
            <a:off x="1234440" y="31821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2F5B"/>
                </a:solidFill>
              </a:rPr>
              <a:t>Que </a:t>
            </a:r>
            <a:r>
              <a:rPr lang="en-US" sz="2500" b="1" dirty="0" err="1">
                <a:solidFill>
                  <a:srgbClr val="0B2F5B"/>
                </a:solidFill>
              </a:rPr>
              <a:t>significa</a:t>
            </a:r>
            <a:r>
              <a:rPr lang="en-US" sz="2500" b="1" dirty="0">
                <a:solidFill>
                  <a:srgbClr val="0B2F5B"/>
                </a:solidFill>
              </a:rPr>
              <a:t> 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1325880" y="3730752"/>
            <a:ext cx="9189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7324D"/>
                </a:solidFill>
              </a:rPr>
              <a:t>El acuerdo intercodificador (sustancial, Landis y Koch) y el member checking (confirmación general con matices, sin discrepancias) refuerzan la confiabilidad del análisis cualitativo. Ambos se calcularon con script reproducible y quedan documentados con fecha real.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84048" y="6574536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FFFFFF"/>
                </a:solidFill>
              </a:rPr>
              <a:t>MediCita • Defensa final ISR-401 • UTEQ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8412480" y="6547104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FFFFFF"/>
                </a:solidFill>
              </a:rPr>
              <a:t>Paul</a:t>
            </a:r>
            <a:endParaRPr lang="en-US" sz="8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1933" y="374904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F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Trazabilidad: la defensa más fuerte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38912" y="7863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</a:rPr>
              <a:t>Cada decisión importante puede seguirse desde evidencia hasta artefacto final</a:t>
            </a:r>
            <a:endParaRPr lang="en-US" sz="1300" dirty="0"/>
          </a:p>
        </p:txBody>
      </p:sp>
      <p:pic>
        <p:nvPicPr>
          <p:cNvPr id="7" name="Image 0" descr="/mnt/data/wide_infographic_style_illustration_on_a_white_bac.png"/>
          <p:cNvPicPr>
            <a:picLocks noChangeAspect="1"/>
          </p:cNvPicPr>
          <p:nvPr/>
        </p:nvPicPr>
        <p:blipFill>
          <a:blip r:embed="rId3"/>
          <a:srcRect l="18845" r="18845"/>
          <a:stretch/>
        </p:blipFill>
        <p:spPr>
          <a:xfrm>
            <a:off x="502920" y="1060704"/>
            <a:ext cx="5669280" cy="49743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29400" y="987552"/>
            <a:ext cx="429768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12280" y="1097280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F5B"/>
                </a:solidFill>
              </a:rPr>
              <a:t>Evidencia EV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8778240" y="1426464"/>
            <a:ext cx="0" cy="237744"/>
          </a:xfrm>
          <a:prstGeom prst="line">
            <a:avLst/>
          </a:prstGeom>
          <a:noFill/>
          <a:ln w="25400">
            <a:solidFill>
              <a:srgbClr val="0E9F8E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629400" y="1664208"/>
            <a:ext cx="4297680" cy="429768"/>
          </a:xfrm>
          <a:prstGeom prst="roundRect">
            <a:avLst>
              <a:gd name="adj" fmla="val 12766"/>
            </a:avLst>
          </a:prstGeom>
          <a:solidFill>
            <a:srgbClr val="EAF6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12280" y="1773936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F5B"/>
                </a:solidFill>
              </a:rPr>
              <a:t>RF/RNF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778240" y="2103120"/>
            <a:ext cx="0" cy="237744"/>
          </a:xfrm>
          <a:prstGeom prst="line">
            <a:avLst/>
          </a:prstGeom>
          <a:noFill/>
          <a:ln w="25400">
            <a:solidFill>
              <a:srgbClr val="0E9F8E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629400" y="2340864"/>
            <a:ext cx="429768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12280" y="2450592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F5B"/>
                </a:solidFill>
              </a:rPr>
              <a:t>Caso de uso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8778240" y="2779776"/>
            <a:ext cx="0" cy="237744"/>
          </a:xfrm>
          <a:prstGeom prst="line">
            <a:avLst/>
          </a:prstGeom>
          <a:noFill/>
          <a:ln w="25400">
            <a:solidFill>
              <a:srgbClr val="0E9F8E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629400" y="3017520"/>
            <a:ext cx="4297680" cy="429768"/>
          </a:xfrm>
          <a:prstGeom prst="roundRect">
            <a:avLst>
              <a:gd name="adj" fmla="val 12766"/>
            </a:avLst>
          </a:prstGeom>
          <a:solidFill>
            <a:srgbClr val="EAF6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12280" y="3127248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F5B"/>
                </a:solidFill>
              </a:rPr>
              <a:t>Historia usuario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8778240" y="3456432"/>
            <a:ext cx="0" cy="237744"/>
          </a:xfrm>
          <a:prstGeom prst="line">
            <a:avLst/>
          </a:prstGeom>
          <a:noFill/>
          <a:ln w="25400">
            <a:solidFill>
              <a:srgbClr val="0E9F8E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629400" y="3694176"/>
            <a:ext cx="429768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12280" y="3803904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F5B"/>
                </a:solidFill>
              </a:rPr>
              <a:t>Criterio aceptación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8778240" y="4133088"/>
            <a:ext cx="0" cy="237744"/>
          </a:xfrm>
          <a:prstGeom prst="line">
            <a:avLst/>
          </a:prstGeom>
          <a:noFill/>
          <a:ln w="25400">
            <a:solidFill>
              <a:srgbClr val="0E9F8E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629400" y="4370832"/>
            <a:ext cx="4297680" cy="429768"/>
          </a:xfrm>
          <a:prstGeom prst="roundRect">
            <a:avLst>
              <a:gd name="adj" fmla="val 12766"/>
            </a:avLst>
          </a:prstGeom>
          <a:solidFill>
            <a:srgbClr val="EAF6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12280" y="4480560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F5B"/>
                </a:solidFill>
              </a:rPr>
              <a:t>Componente</a:t>
            </a:r>
            <a:endParaRPr lang="en-US" sz="1550" dirty="0"/>
          </a:p>
        </p:txBody>
      </p:sp>
      <p:sp>
        <p:nvSpPr>
          <p:cNvPr id="25" name="Shape 22"/>
          <p:cNvSpPr/>
          <p:nvPr/>
        </p:nvSpPr>
        <p:spPr>
          <a:xfrm>
            <a:off x="8778240" y="4809744"/>
            <a:ext cx="0" cy="237744"/>
          </a:xfrm>
          <a:prstGeom prst="line">
            <a:avLst/>
          </a:prstGeom>
          <a:noFill/>
          <a:ln w="25400">
            <a:solidFill>
              <a:srgbClr val="0E9F8E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6629400" y="5047488"/>
            <a:ext cx="429768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12280" y="5157216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F5B"/>
                </a:solidFill>
              </a:rPr>
              <a:t>Mockup / prueba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384048" y="6574536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FFFFFF"/>
                </a:solidFill>
              </a:rPr>
              <a:t>MediCita • Defensa final ISR-401 • UTEQ</a:t>
            </a:r>
            <a:endParaRPr lang="en-US" sz="860" dirty="0"/>
          </a:p>
        </p:txBody>
      </p:sp>
      <p:sp>
        <p:nvSpPr>
          <p:cNvPr id="30" name="Text 27"/>
          <p:cNvSpPr/>
          <p:nvPr/>
        </p:nvSpPr>
        <p:spPr>
          <a:xfrm>
            <a:off x="8412480" y="6547104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FFFFFF"/>
                </a:solidFill>
              </a:rPr>
              <a:t>Mayummy</a:t>
            </a:r>
            <a:endParaRPr lang="en-US" sz="8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F"/>
          </a:solidFill>
          <a:ln w="12700">
            <a:solidFill>
              <a:srgbClr val="F6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F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Mejoras incorporadas después de validar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38912" y="7863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</a:rPr>
              <a:t>Se corrigió lo observado sin cambiar radicalmente la estructura original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50749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3990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F5B"/>
                </a:solidFill>
              </a:rPr>
              <a:t>Identificación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24328" y="139903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cédula, pasaporte, menores y representante legal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81928" y="1234440"/>
            <a:ext cx="50749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13990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F5B"/>
                </a:solidFill>
              </a:rPr>
              <a:t>Agenda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47888" y="139903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profesional, día, semana, mes y horarios más claros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58368" y="2606040"/>
            <a:ext cx="50749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27706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F5B"/>
                </a:solidFill>
              </a:rPr>
              <a:t>Enfermería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24328" y="277063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signos vitales, procedimientos y entrega de medicamentos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281928" y="2606040"/>
            <a:ext cx="50749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27706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F5B"/>
                </a:solidFill>
              </a:rPr>
              <a:t>Historia clínica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47888" y="277063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filtrado por especialidad y antecedentes relevantes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58368" y="3977640"/>
            <a:ext cx="50749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41422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F5B"/>
                </a:solidFill>
              </a:rPr>
              <a:t>Coordinación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624328" y="414223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profesionales, horarios, permisos y reportes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281928" y="3977640"/>
            <a:ext cx="50749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41422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F5B"/>
                </a:solidFill>
              </a:rPr>
              <a:t>Accesibilidad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47888" y="414223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A+ para texto y mensajes de confirmación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14400" y="5742432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84048" y="6574536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FFFFFF"/>
                </a:solidFill>
              </a:rPr>
              <a:t>MediCita • Defensa final ISR-401 • UTEQ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8412480" y="6547104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FFFFFF"/>
                </a:solidFill>
              </a:rPr>
              <a:t>Mayummy</a:t>
            </a:r>
            <a:endParaRPr lang="en-US" sz="8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F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Limitaciones: honestidad metodológica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38912" y="7863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</a:rPr>
              <a:t>Una defensa sólida también dice claramente qué no se puede concluir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143000"/>
            <a:ext cx="33832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8952" y="1216152"/>
            <a:ext cx="3236976" cy="420624"/>
          </a:xfrm>
          <a:prstGeom prst="roundRect">
            <a:avLst>
              <a:gd name="adj" fmla="val 17391"/>
            </a:avLst>
          </a:prstGeom>
          <a:solidFill>
            <a:srgbClr val="F28C28">
              <a:alpha val="98000"/>
            </a:srgbClr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2390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!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1289304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Un solo contexto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96112" y="1764792"/>
            <a:ext cx="2962656" cy="11247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Los resultados no deben generalizarse automáticamente a todos los centros médicos.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407408" y="1143000"/>
            <a:ext cx="33832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216152"/>
            <a:ext cx="3236976" cy="420624"/>
          </a:xfrm>
          <a:prstGeom prst="roundRect">
            <a:avLst>
              <a:gd name="adj" fmla="val 17391"/>
            </a:avLst>
          </a:prstGeom>
          <a:solidFill>
            <a:srgbClr val="F28C28">
              <a:alpha val="98000"/>
            </a:srgbClr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2390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!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10328" y="1289304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Muestra reducida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617720" y="1764792"/>
            <a:ext cx="2962656" cy="11247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El análisis usa entrevistas y walkthrough disponibles; no es estudio clínico masivo.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138160" y="1143000"/>
            <a:ext cx="33832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11312" y="1216152"/>
            <a:ext cx="3236976" cy="420624"/>
          </a:xfrm>
          <a:prstGeom prst="roundRect">
            <a:avLst>
              <a:gd name="adj" fmla="val 17391"/>
            </a:avLst>
          </a:prstGeom>
          <a:solidFill>
            <a:srgbClr val="F28C28">
              <a:alpha val="98000"/>
            </a:srgbClr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2752" y="12390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!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41080" y="1289304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No producción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48472" y="1764792"/>
            <a:ext cx="2962656" cy="11247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El MVP usa datos ficticios y no sustituye un sistema médico real.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85800" y="3429000"/>
            <a:ext cx="33832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8952" y="3502152"/>
            <a:ext cx="3236976" cy="420624"/>
          </a:xfrm>
          <a:prstGeom prst="roundRect">
            <a:avLst>
              <a:gd name="adj" fmla="val 17391"/>
            </a:avLst>
          </a:prstGeom>
          <a:solidFill>
            <a:srgbClr val="0B64B0">
              <a:alpha val="98000"/>
            </a:srgbClr>
          </a:solidFill>
          <a:ln w="12700">
            <a:solidFill>
              <a:srgbClr val="0B64B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35250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88720" y="3575304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IA delimitada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96112" y="4050792"/>
            <a:ext cx="2962656" cy="11247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El asistente requiere explicabilidad, supervisión y monitoreo antes de producción.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4407408" y="3429000"/>
            <a:ext cx="33832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80560" y="3502152"/>
            <a:ext cx="3236976" cy="420624"/>
          </a:xfrm>
          <a:prstGeom prst="roundRect">
            <a:avLst>
              <a:gd name="adj" fmla="val 17391"/>
            </a:avLst>
          </a:prstGeom>
          <a:solidFill>
            <a:srgbClr val="0B64B0">
              <a:alpha val="98000"/>
            </a:srgbClr>
          </a:solidFill>
          <a:ln w="12700">
            <a:solidFill>
              <a:srgbClr val="0B64B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35250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i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910328" y="3575304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Sin satisfacción clínica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617720" y="4050792"/>
            <a:ext cx="2962656" cy="11247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Cobertura RF Must no equivale a satisfacción ni eficacia clínica.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8138160" y="3429000"/>
            <a:ext cx="33832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11312" y="3502152"/>
            <a:ext cx="3236976" cy="420624"/>
          </a:xfrm>
          <a:prstGeom prst="roundRect">
            <a:avLst>
              <a:gd name="adj" fmla="val 17391"/>
            </a:avLst>
          </a:prstGeom>
          <a:solidFill>
            <a:srgbClr val="0B64B0">
              <a:alpha val="98000"/>
            </a:srgbClr>
          </a:solidFill>
          <a:ln w="12700">
            <a:solidFill>
              <a:srgbClr val="0B64B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02752" y="35250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i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641080" y="3575304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Privacidad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8348472" y="4050792"/>
            <a:ext cx="2962656" cy="11247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Evidencia identificable debe mantenerse fuera del área pública.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384048" y="6574536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FFFFFF"/>
                </a:solidFill>
              </a:rPr>
              <a:t>MediCita • Defensa final ISR-401 • UTEQ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8412480" y="6547104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FFFFFF"/>
                </a:solidFill>
              </a:rPr>
              <a:t>Mayummy</a:t>
            </a:r>
            <a:endParaRPr lang="en-US" sz="8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F"/>
          </a:solidFill>
          <a:ln w="12700">
            <a:solidFill>
              <a:srgbClr val="F6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F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Demostración del MVP: ruta sugerida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38912" y="7863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</a:rPr>
              <a:t>Mostrar pocos flujos, pero defenderlos muy bien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7008" y="1737360"/>
            <a:ext cx="822960" cy="822960"/>
          </a:xfrm>
          <a:prstGeom prst="ellipse">
            <a:avLst/>
          </a:prstGeom>
          <a:solidFill>
            <a:srgbClr val="0B64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7008" y="19476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04672" y="283464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F5B"/>
                </a:solidFill>
              </a:rPr>
              <a:t>Login y roles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24D"/>
                </a:solidFill>
              </a:rPr>
              <a:t>Mostrar control de acceso y navegación por perfiles.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944368" y="141732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11296" y="1737360"/>
            <a:ext cx="822960" cy="82296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1296" y="19476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108960" y="283464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F5B"/>
                </a:solidFill>
              </a:rPr>
              <a:t>Recepción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27248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24D"/>
                </a:solidFill>
              </a:rPr>
              <a:t>Registrar/buscar paciente y asignar cita o turno.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248656" y="141732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15584" y="1737360"/>
            <a:ext cx="822960" cy="822960"/>
          </a:xfrm>
          <a:prstGeom prst="ellipse">
            <a:avLst/>
          </a:prstGeom>
          <a:solidFill>
            <a:srgbClr val="0B64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15584" y="19476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13248" y="283464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F5B"/>
                </a:solidFill>
              </a:rPr>
              <a:t>Enfermería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31536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24D"/>
                </a:solidFill>
              </a:rPr>
              <a:t>Signos vitales y recepción de receta.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552944" y="141732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19872" y="1737360"/>
            <a:ext cx="822960" cy="82296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9872" y="19476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717536" y="283464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F5B"/>
                </a:solidFill>
              </a:rPr>
              <a:t>Atención médica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35824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24D"/>
                </a:solidFill>
              </a:rPr>
              <a:t>Historia clínica y receta desde Medicina/Odontología.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857232" y="141732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24160" y="1737360"/>
            <a:ext cx="822960" cy="822960"/>
          </a:xfrm>
          <a:prstGeom prst="ellipse">
            <a:avLst/>
          </a:prstGeom>
          <a:solidFill>
            <a:srgbClr val="0B64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24160" y="19476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021824" y="283464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F5B"/>
                </a:solidFill>
              </a:rPr>
              <a:t>Reportes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040112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24D"/>
                </a:solidFill>
              </a:rPr>
              <a:t>Indicadores por área y trazabilidad final.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60120" y="5394960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F5B"/>
                </a:solidFill>
              </a:rPr>
              <a:t>Tiempo recomendado: 3 a 4 minutos. No navegar todo: seleccionar flujos que prueben trazabilidad.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84048" y="6574536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FFFFFF"/>
                </a:solidFill>
              </a:rPr>
              <a:t>MediCita • Defensa final ISR-401 • UTEQ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8412480" y="6547104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FFFFFF"/>
                </a:solidFill>
              </a:rPr>
              <a:t>Demo: todos, conduce Thais</a:t>
            </a:r>
            <a:endParaRPr lang="en-US" sz="8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F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Ciencia abierta y reproducibilidad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38912" y="7863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</a:rPr>
              <a:t>Todo verificable por cualquiera, sin depender de nuestra palabra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CBE4F5"/>
            </a:solidFill>
            <a:prstDash val="solid"/>
          </a:ln>
          <a:effectLst>
            <a:outerShdw blurRad="12700" dist="50800" dir="2700000" algn="bl" rotWithShape="0">
              <a:srgbClr val="BFD8EA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1389888"/>
            <a:ext cx="621792" cy="621792"/>
          </a:xfrm>
          <a:prstGeom prst="ellipse">
            <a:avLst/>
          </a:prstGeom>
          <a:solidFill>
            <a:srgbClr val="0B64B0"/>
          </a:solidFill>
          <a:ln w="12700">
            <a:solidFill>
              <a:srgbClr val="0B64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408176"/>
            <a:ext cx="15727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F5B"/>
                </a:solidFill>
              </a:rPr>
              <a:t>3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463040" y="18379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24D"/>
                </a:solidFill>
              </a:rPr>
              <a:t>depósitos FAIR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64992" y="123444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CBE4F5"/>
            </a:solidFill>
            <a:prstDash val="solid"/>
          </a:ln>
          <a:effectLst>
            <a:outerShdw blurRad="12700" dist="50800" dir="2700000" algn="bl" rotWithShape="0">
              <a:srgbClr val="BFD8EA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93008" y="1389888"/>
            <a:ext cx="621792" cy="621792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33672" y="1408176"/>
            <a:ext cx="15727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F5B"/>
                </a:solidFill>
              </a:rPr>
              <a:t>88%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233672" y="18379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24D"/>
                </a:solidFill>
              </a:rPr>
              <a:t>evaluación FAIR (F-UJI)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44768" y="123444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CBE4F5"/>
            </a:solidFill>
            <a:prstDash val="solid"/>
          </a:ln>
          <a:effectLst>
            <a:outerShdw blurRad="12700" dist="50800" dir="2700000" algn="bl" rotWithShape="0">
              <a:srgbClr val="BFD8EA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2784" y="1389888"/>
            <a:ext cx="621792" cy="62179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13448" y="1408176"/>
            <a:ext cx="15727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F5B"/>
                </a:solidFill>
              </a:rPr>
              <a:t>372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7013448" y="18379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24D"/>
                </a:solidFill>
              </a:rPr>
              <a:t>archivos con hash SHA-256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15400" y="123444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CBE4F5"/>
            </a:solidFill>
            <a:prstDash val="solid"/>
          </a:ln>
          <a:effectLst>
            <a:outerShdw blurRad="12700" dist="50800" dir="2700000" algn="bl" rotWithShape="0">
              <a:srgbClr val="BFD8EA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43416" y="1389888"/>
            <a:ext cx="621792" cy="621792"/>
          </a:xfrm>
          <a:prstGeom prst="ellipse">
            <a:avLst/>
          </a:prstGeom>
          <a:solidFill>
            <a:srgbClr val="1EAD68"/>
          </a:solidFill>
          <a:ln w="12700">
            <a:solidFill>
              <a:srgbClr val="1EAD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0" y="1408176"/>
            <a:ext cx="15727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F5B"/>
                </a:solidFill>
              </a:rPr>
              <a:t>250 MB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9784080" y="18379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24D"/>
                </a:solidFill>
              </a:rPr>
              <a:t>repositorio espejo liviano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278892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4672" y="2862072"/>
            <a:ext cx="3236976" cy="420624"/>
          </a:xfrm>
          <a:prstGeom prst="roundRect">
            <a:avLst>
              <a:gd name="adj" fmla="val 17391"/>
            </a:avLst>
          </a:prstGeom>
          <a:solidFill>
            <a:srgbClr val="0B64B0">
              <a:alpha val="98000"/>
            </a:srgbClr>
          </a:solidFill>
          <a:ln w="12700">
            <a:solidFill>
              <a:srgbClr val="0B64B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28849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34440" y="2935224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Zenodo y OSF: confirmados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41832" y="3410712"/>
            <a:ext cx="2962656" cy="1216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DOI 10.5281/zenodo.22236373 y DOI 10.17605/OSF.IO/DTYNC, con prerregistro previo a la validación.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4407408" y="278892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80560" y="2862072"/>
            <a:ext cx="3236976" cy="420624"/>
          </a:xfrm>
          <a:prstGeom prst="roundRect">
            <a:avLst>
              <a:gd name="adj" fmla="val 17391"/>
            </a:avLst>
          </a:prstGeom>
          <a:solidFill>
            <a:srgbClr val="F28C28">
              <a:alpha val="98000"/>
            </a:srgbClr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28849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!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910328" y="2935224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Software Heritage: en trámite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617720" y="3410712"/>
            <a:ext cx="2962656" cy="1216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Repositorio espejo enviado (Save code now); identificador SWHID pendiente de confirmación.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8083296" y="278892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C7E2F3"/>
            </a:solidFill>
            <a:prstDash val="solid"/>
          </a:ln>
          <a:effectLst>
            <a:outerShdw blurRad="12700" dist="50800" dir="2700000" algn="bl" rotWithShape="0">
              <a:srgbClr val="C9DCE8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56448" y="2862072"/>
            <a:ext cx="3236976" cy="420624"/>
          </a:xfrm>
          <a:prstGeom prst="roundRect">
            <a:avLst>
              <a:gd name="adj" fmla="val 17391"/>
            </a:avLst>
          </a:prstGeom>
          <a:solidFill>
            <a:srgbClr val="0E9F8E">
              <a:alpha val="98000"/>
            </a:srgbClr>
          </a:solidFill>
          <a:ln w="12700">
            <a:solidFill>
              <a:srgbClr val="0E9F8E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47888" y="28849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↔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586216" y="2935224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Reproducibilidad total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293608" y="3410712"/>
            <a:ext cx="2962656" cy="1216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</a:rPr>
              <a:t>Clon liviano (--depth 1), MVP en Docker, y un único script que reproduce cada cifra estadística presentada.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384048" y="6574536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FFFFFF"/>
                </a:solidFill>
              </a:rPr>
              <a:t>MediCita • Defensa final ISR-401 • UTEQ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8412480" y="6547104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FFFFFF"/>
                </a:solidFill>
              </a:rPr>
              <a:t>Mayummy</a:t>
            </a:r>
            <a:endParaRPr lang="en-US" sz="8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F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Cierre: reparto y mensaje final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38912" y="7863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</a:rPr>
              <a:t>Cinco integrantes, una defensa coherente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3075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F5B"/>
                </a:solidFill>
              </a:rPr>
              <a:t>Steven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331720" y="13075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</a:rPr>
              <a:t>Apertura, problema y objetivo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69680" y="13075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E9F8E"/>
                </a:solidFill>
              </a:rPr>
              <a:t>Slides 1–3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1984248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AF6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14884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F5B"/>
                </a:solidFill>
              </a:rPr>
              <a:t>Jamileth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331720" y="2148840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</a:rPr>
              <a:t>Método, repositorio y 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69680" y="21488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E9F8E"/>
                </a:solidFill>
              </a:rPr>
              <a:t>Slides 4–6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2825496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99008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F5B"/>
                </a:solidFill>
              </a:rPr>
              <a:t>Thais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331720" y="299008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</a:rPr>
              <a:t>MVP, roles y flujos críticos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69680" y="29900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E9F8E"/>
                </a:solidFill>
              </a:rPr>
              <a:t>Slides 7–8 + demo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3666744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AF6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83133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F5B"/>
                </a:solidFill>
              </a:rPr>
              <a:t>Paul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331720" y="3831336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</a:rPr>
              <a:t>Resultados y verificación técnica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69680" y="383133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E9F8E"/>
                </a:solidFill>
              </a:rPr>
              <a:t>Slides 9–12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1520" y="4507992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BD9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67258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F5B"/>
                </a:solidFill>
              </a:rPr>
              <a:t>Mayummy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331720" y="467258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</a:rPr>
              <a:t>Trazabilidad, mejoras, límites, ciencia abierta y cierre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69680" y="467258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E9F8E"/>
                </a:solidFill>
              </a:rPr>
              <a:t>Slides 13–18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97280" y="5577840"/>
            <a:ext cx="10012680" cy="530352"/>
          </a:xfrm>
          <a:prstGeom prst="roundRect">
            <a:avLst>
              <a:gd name="adj" fmla="val 13793"/>
            </a:avLst>
          </a:prstGeom>
          <a:solidFill>
            <a:srgbClr val="0B2F5B"/>
          </a:solidFill>
          <a:ln w="12700">
            <a:solidFill>
              <a:srgbClr val="0B2F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53312" y="5733288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</a:rPr>
              <a:t>MediCita aporta evidencia humana, trazabilidad de requisitos y verificación técnica reproducible para mejorar procesos clínico-administrativos.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384048" y="6574536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FFFFFF"/>
                </a:solidFill>
              </a:rPr>
              <a:t>MediCita • Defensa final ISR-401 • UTEQ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8412480" y="6547104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FFFFFF"/>
                </a:solidFill>
              </a:rPr>
              <a:t>Cierre: Mayummy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2090</Words>
  <Application>Microsoft Office PowerPoint</Application>
  <PresentationFormat>Panorámica</PresentationFormat>
  <Paragraphs>342</Paragraphs>
  <Slides>18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UTEQ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MediCita Defensa Final Mejorada</dc:title>
  <dc:subject>Defensa final MediCita ISR-401</dc:subject>
  <dc:creator>Equipo MediCita</dc:creator>
  <cp:lastModifiedBy>TIGASI SAMPEDRO  PAUL ALEXANDER</cp:lastModifiedBy>
  <cp:revision>4</cp:revision>
  <dcterms:created xsi:type="dcterms:W3CDTF">2026-09-07T23:15:19Z</dcterms:created>
  <dcterms:modified xsi:type="dcterms:W3CDTF">2026-09-08T03:28:41Z</dcterms:modified>
</cp:coreProperties>
</file>