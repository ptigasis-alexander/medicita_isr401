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A2E36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A2E36"/>
                </a:solidFill>
                <a:latin typeface="Calibri"/>
              </a:rPr>
              <a:t>Estado de las 46 observaciones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Tareas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A2E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483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Completadas
con observación</c:v>
                  </c:pt>
                  <c:pt idx="1">
                    <c:v>No
completadas</c:v>
                  </c:pt>
                  <c:pt idx="2">
                    <c:v>Completadas sin
observaciones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0A2E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A2E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Requisitos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bubble3D val="0"/>
            <c:spPr>
              <a:solidFill>
                <a:srgbClr val="E3ECE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A2E36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A2E36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Verificados (20)</c:v>
                </c:pt>
                <c:pt idx="1">
                  <c:v>Pendientes (2)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20</c:v>
                </c:pt>
                <c:pt idx="1">
                  <c:v>2</c:v>
                </c:pt>
              </c:numCache>
            </c:numRef>
          </c:val>
        </c:ser>
        <c:firstSliceAng val="0"/>
        <c:holeSize val="6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A2E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313A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-2011680"/>
            <a:ext cx="5943600" cy="5943600"/>
          </a:xfrm>
          <a:prstGeom prst="ellipse">
            <a:avLst/>
          </a:prstGeom>
          <a:solidFill>
            <a:srgbClr val="0B3D46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-548640"/>
            <a:ext cx="2926080" cy="2926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ISR-401 · INGENIERÍA DE REQUISITOS · DEFENSA FINAL (2B)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MediCita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F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Gestión Inteligente para un Centro Médico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611880"/>
            <a:ext cx="201168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evidencia de campo a un prototipo verificado y reproducible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4434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7548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Steven Santiago Díaz Pontón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508406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Jamileth Estefanía Gamarra Zárate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541324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Thais Melanie Herrera Ramos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57424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Alexander Tigasi Sampedro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2960" y="607161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Mayummy Jailly Trujillo Vega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464040" y="4846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minutos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9464040" y="5349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total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no era solo la falta de una app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2 · Steven Díaz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entrevistas revelaron procesos fragmentados: historias clínicas físicas, hojas de cálculo para citas e inventario, y coordinación informal entre áreas. El resultado: información difícil de localizar, registros duplicados y poca trazabilidad.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971800"/>
            <a:ext cx="566928" cy="566928"/>
          </a:xfrm>
          <a:prstGeom prst="ellipse">
            <a:avLst/>
          </a:prstGeom>
          <a:solidFill>
            <a:srgbClr val="F2F8F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971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25880" y="2953512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Historias clínicas físicas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325880" y="326440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Difíciles de localizar y propensas a duplicarse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66928" cy="566928"/>
          </a:xfrm>
          <a:prstGeom prst="ellipse">
            <a:avLst/>
          </a:prstGeom>
          <a:solidFill>
            <a:srgbClr val="F2F8F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749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3730752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Hojas de cálculo dispersas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325880" y="404164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citas e inventario, sin trazabilidad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526280"/>
            <a:ext cx="566928" cy="566928"/>
          </a:xfrm>
          <a:prstGeom prst="ellipse">
            <a:avLst/>
          </a:prstGeom>
          <a:solidFill>
            <a:srgbClr val="F2F8F8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25880" y="4507992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informal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325880" y="481888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áreas clínicas y administrativas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18120" y="1417320"/>
            <a:ext cx="3794760" cy="4572000"/>
          </a:xfrm>
          <a:prstGeom prst="roundRect">
            <a:avLst>
              <a:gd name="adj" fmla="val 2892"/>
            </a:avLst>
          </a:prstGeom>
          <a:solidFill>
            <a:srgbClr val="07313A"/>
          </a:solidFill>
          <a:ln/>
        </p:spPr>
      </p:sp>
      <p:sp>
        <p:nvSpPr>
          <p:cNvPr id="18" name="Text 16"/>
          <p:cNvSpPr/>
          <p:nvPr/>
        </p:nvSpPr>
        <p:spPr>
          <a:xfrm>
            <a:off x="813816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CONTRIBUCIÓN PRINCIPAL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138160" y="2011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Conectar toda la cadena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8138160" y="27432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F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de campo → requisitos → modelado → prototipo → verificación.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F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presentan pantallas aisladas: cada elemento se sostiene en el anterior.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138160" y="4892040"/>
            <a:ext cx="3200400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8138160" y="50749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= integración de flujos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clínicos y administrativos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· ISR-401 · Defensa Final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Nueve perspectivas, un solo sistema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3 · Steven Díaz — el alcance explica la contribución: integrar procesos antes fragmentados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94360" y="15087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2F8F8"/>
          </a:solidFill>
          <a:ln w="12700">
            <a:solidFill>
              <a:srgbClr val="DDED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18470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8470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🧑‍⚕️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150876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2F8F8"/>
          </a:solidFill>
          <a:ln w="12700">
            <a:solidFill>
              <a:srgbClr val="DDED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44568" y="18470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544568" y="18470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🗓️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212080" y="150876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5087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2F8F8"/>
          </a:solidFill>
          <a:ln w="12700">
            <a:solidFill>
              <a:srgbClr val="DDED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93608" y="18470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8293608" y="18470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🩺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961120" y="150876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Medicina general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94360" y="28803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2F8F8"/>
          </a:solidFill>
          <a:ln w="12700">
            <a:solidFill>
              <a:srgbClr val="DDED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5528" y="32186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95528" y="32186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💉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63040" y="288036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Enfermería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343400" y="28803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2F8F8"/>
          </a:solidFill>
          <a:ln w="12700">
            <a:solidFill>
              <a:srgbClr val="DDED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44568" y="32186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544568" y="32186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212080" y="288036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Recaudación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092440" y="28803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2F8F8"/>
          </a:solidFill>
          <a:ln w="12700">
            <a:solidFill>
              <a:srgbClr val="DDED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3608" y="32186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93608" y="32186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8961120" y="288036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Psicología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94360" y="42519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2F8F8"/>
          </a:solidFill>
          <a:ln w="12700">
            <a:solidFill>
              <a:srgbClr val="DDED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5528" y="45902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795528" y="45902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463040" y="425196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Nutrición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343400" y="42519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2F8F8"/>
          </a:solidFill>
          <a:ln w="12700">
            <a:solidFill>
              <a:srgbClr val="DDED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44568" y="45902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544568" y="45902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🏃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5212080" y="425196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Terapia física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8092440" y="42519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2F8F8"/>
          </a:solidFill>
          <a:ln w="12700">
            <a:solidFill>
              <a:srgbClr val="DDEDE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3608" y="45902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8293608" y="45902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🦷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961120" y="425196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Odontología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594360" y="569671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compartida ≠ acceso irrestricto — cada perfil convierte sus necesidades en requisitos verificables.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· ISR-401 · Defensa Final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preguntas delimitan la evaluación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4 · Steven Díaz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2F8F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116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prototipo permite contrastar?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384048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frente a las necesidades elicitadas en campo.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33088" y="320040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07313A"/>
          </a:solidFill>
          <a:ln/>
        </p:spPr>
      </p:sp>
      <p:sp>
        <p:nvSpPr>
          <p:cNvPr id="11" name="Shape 9"/>
          <p:cNvSpPr/>
          <p:nvPr/>
        </p:nvSpPr>
        <p:spPr>
          <a:xfrm>
            <a:off x="4645152" y="2011680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45152" y="29260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dificultades aparecen?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45152" y="384048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FEF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Identificadas durante el walkthrough con usuarios reales.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909560" y="320040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147304" y="169164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2F8F8"/>
          </a:solidFill>
          <a:ln/>
        </p:spPr>
      </p:sp>
      <p:sp>
        <p:nvSpPr>
          <p:cNvPr id="17" name="Shape 15"/>
          <p:cNvSpPr/>
          <p:nvPr/>
        </p:nvSpPr>
        <p:spPr>
          <a:xfrm>
            <a:off x="8421624" y="20116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842162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421624" y="29260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requisitos ajustar?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21624" y="384048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Cuáles confirmar, modificar o refinar tras la evidencia.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94360" y="5486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Estas preguntas conectan a los stakeholders con las decisiones que se validarán en la demostración.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· ISR-401 · Defensa Final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prototipo con navegación diferenciada por rol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5 · Jamileth Gamarra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94360" y="1508760"/>
            <a:ext cx="5120640" cy="4160520"/>
          </a:xfrm>
          <a:prstGeom prst="roundRect">
            <a:avLst>
              <a:gd name="adj" fmla="val 2198"/>
            </a:avLst>
          </a:prstGeom>
          <a:solidFill>
            <a:srgbClr val="07313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37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SISTEMA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463040" y="2331720"/>
            <a:ext cx="3200400" cy="2377440"/>
          </a:xfrm>
          <a:prstGeom prst="roundRect">
            <a:avLst>
              <a:gd name="adj" fmla="val 3077"/>
            </a:avLst>
          </a:prstGeom>
          <a:solidFill>
            <a:srgbClr val="0B3D46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260604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269748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737360" y="3520440"/>
            <a:ext cx="2651760" cy="320040"/>
          </a:xfrm>
          <a:prstGeom prst="roundRect">
            <a:avLst>
              <a:gd name="adj" fmla="val 17143"/>
            </a:avLst>
          </a:prstGeom>
          <a:solidFill>
            <a:srgbClr val="0F4750"/>
          </a:solidFill>
          <a:ln/>
        </p:spPr>
      </p:sp>
      <p:sp>
        <p:nvSpPr>
          <p:cNvPr id="10" name="Shape 8"/>
          <p:cNvSpPr/>
          <p:nvPr/>
        </p:nvSpPr>
        <p:spPr>
          <a:xfrm>
            <a:off x="1737360" y="3931920"/>
            <a:ext cx="2651760" cy="320040"/>
          </a:xfrm>
          <a:prstGeom prst="roundRect">
            <a:avLst>
              <a:gd name="adj" fmla="val 17143"/>
            </a:avLst>
          </a:prstGeom>
          <a:solidFill>
            <a:srgbClr val="0F4750"/>
          </a:solidFill>
          <a:ln/>
        </p:spPr>
      </p:sp>
      <p:sp>
        <p:nvSpPr>
          <p:cNvPr id="11" name="Shape 9"/>
          <p:cNvSpPr/>
          <p:nvPr/>
        </p:nvSpPr>
        <p:spPr>
          <a:xfrm>
            <a:off x="1737360" y="4343400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4343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5074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y control de acceso por perfil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89320" y="15087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· Medicina General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89320" y="1965960"/>
            <a:ext cx="5577840" cy="621792"/>
          </a:xfrm>
          <a:prstGeom prst="roundRect">
            <a:avLst>
              <a:gd name="adj" fmla="val 11765"/>
            </a:avLst>
          </a:prstGeom>
          <a:solidFill>
            <a:srgbClr val="F2F8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144768" y="2057400"/>
            <a:ext cx="438912" cy="43891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6144768" y="2057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720840" y="1965960"/>
            <a:ext cx="4663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de historia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989320" y="2724912"/>
            <a:ext cx="5577840" cy="621792"/>
          </a:xfrm>
          <a:prstGeom prst="roundRect">
            <a:avLst>
              <a:gd name="adj" fmla="val 11765"/>
            </a:avLst>
          </a:prstGeom>
          <a:solidFill>
            <a:srgbClr val="F2F8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144768" y="2816352"/>
            <a:ext cx="438912" cy="43891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6144768" y="28163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720840" y="2724912"/>
            <a:ext cx="4663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citas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989320" y="3483864"/>
            <a:ext cx="5577840" cy="621792"/>
          </a:xfrm>
          <a:prstGeom prst="roundRect">
            <a:avLst>
              <a:gd name="adj" fmla="val 11765"/>
            </a:avLst>
          </a:prstGeom>
          <a:solidFill>
            <a:srgbClr val="F2F8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144768" y="3575304"/>
            <a:ext cx="438912" cy="43891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5" name="Text 23"/>
          <p:cNvSpPr/>
          <p:nvPr/>
        </p:nvSpPr>
        <p:spPr>
          <a:xfrm>
            <a:off x="6144768" y="35753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720840" y="3483864"/>
            <a:ext cx="4663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Emisión de recetas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89320" y="4242816"/>
            <a:ext cx="5577840" cy="621792"/>
          </a:xfrm>
          <a:prstGeom prst="roundRect">
            <a:avLst>
              <a:gd name="adj" fmla="val 11765"/>
            </a:avLst>
          </a:prstGeom>
          <a:solidFill>
            <a:srgbClr val="F2F8F8"/>
          </a:solidFill>
          <a:ln/>
        </p:spPr>
      </p:sp>
      <p:sp>
        <p:nvSpPr>
          <p:cNvPr id="28" name="Shape 26"/>
          <p:cNvSpPr/>
          <p:nvPr/>
        </p:nvSpPr>
        <p:spPr>
          <a:xfrm>
            <a:off x="6144768" y="4334256"/>
            <a:ext cx="438912" cy="43891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9" name="Text 27"/>
          <p:cNvSpPr/>
          <p:nvPr/>
        </p:nvSpPr>
        <p:spPr>
          <a:xfrm>
            <a:off x="6144768" y="43342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720840" y="4242816"/>
            <a:ext cx="4663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Derivaciones a otras áreas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89320" y="513892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pantalla se ancla a un requisito verificable. La demostración final cubrirá dos escenarios trazados con datos sintéticos.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· ISR-401 · Defensa Final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trazabilidad audita el alcance del sistema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6 · Jamileth Gamarra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2331720" cy="1737360"/>
          </a:xfrm>
          <a:prstGeom prst="roundRect">
            <a:avLst>
              <a:gd name="adj" fmla="val 6316"/>
            </a:avLst>
          </a:prstGeom>
          <a:solidFill>
            <a:srgbClr val="07313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28600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Necesidad</a:t>
            </a:r>
            <a:endParaRPr lang="en-US" sz="15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63240" y="288036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520440" y="2286000"/>
            <a:ext cx="2331720" cy="1737360"/>
          </a:xfrm>
          <a:prstGeom prst="roundRect">
            <a:avLst>
              <a:gd name="adj" fmla="val 6316"/>
            </a:avLst>
          </a:prstGeom>
          <a:solidFill>
            <a:srgbClr val="07313A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228600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/ RNF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897880" y="288036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355080" y="2286000"/>
            <a:ext cx="2331720" cy="1737360"/>
          </a:xfrm>
          <a:prstGeom prst="roundRect">
            <a:avLst>
              <a:gd name="adj" fmla="val 6316"/>
            </a:avLst>
          </a:prstGeom>
          <a:solidFill>
            <a:srgbClr val="07313A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28600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&amp;</a:t>
            </a:r>
            <a:endParaRPr lang="en-US" sz="15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32520" y="288036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9189720" y="2286000"/>
            <a:ext cx="2331720" cy="1737360"/>
          </a:xfrm>
          <a:prstGeom prst="roundRect">
            <a:avLst>
              <a:gd name="adj" fmla="val 6316"/>
            </a:avLst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0" y="228600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de</a:t>
            </a:r>
            <a:endParaRPr lang="en-US" sz="15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85800" y="4434840"/>
            <a:ext cx="10835640" cy="1417320"/>
          </a:xfrm>
          <a:prstGeom prst="roundRect">
            <a:avLst>
              <a:gd name="adj" fmla="val 7742"/>
            </a:avLst>
          </a:prstGeom>
          <a:solidFill>
            <a:srgbClr val="F2F8F8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663440"/>
            <a:ext cx="10195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cadena evita declarar cumplimiento solo porque existe una pantalla: cada requisito debe llegar hasta la evidencia de verificación.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· ISR-401 · Defensa Final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en cuatro momentos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7 · Jamileth Gamarra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07313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8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Elicitación para construir requisitos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41732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3584448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38728" y="19202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538728" y="2651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84448" y="306324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8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para validar el prototipo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08776" y="141732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07313A"/>
          </a:solidFill>
          <a:ln/>
        </p:spPr>
      </p:sp>
      <p:sp>
        <p:nvSpPr>
          <p:cNvPr id="15" name="Text 13"/>
          <p:cNvSpPr/>
          <p:nvPr/>
        </p:nvSpPr>
        <p:spPr>
          <a:xfrm>
            <a:off x="6391656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45936" y="19202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/ 72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45936" y="2651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obs. / relac.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91656" y="306324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8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 procesadas y vínculos obs.–requisito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41732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9198864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53144" y="19202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9153144" y="2651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Must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98864" y="306324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8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técnica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4360" y="4480560"/>
            <a:ext cx="11027664" cy="960120"/>
          </a:xfrm>
          <a:prstGeom prst="roundRect">
            <a:avLst>
              <a:gd name="adj" fmla="val 9524"/>
            </a:avLst>
          </a:prstGeom>
          <a:solidFill>
            <a:srgbClr val="F2F8F8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4480560"/>
            <a:ext cx="104790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total: 18 sesiones con 16 personas distintas — dos solapamientos identificados (una persona en dos etapas; Odontología/Coordinación fue la misma persona).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· ISR-401 · Defensa Final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Evidencia con controles éticos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8 · Jamileth Gamarra — en salud, la evidencia no se publica sin controles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5257800" cy="3977640"/>
          </a:xfrm>
          <a:prstGeom prst="roundRect">
            <a:avLst>
              <a:gd name="adj" fmla="val 2759"/>
            </a:avLst>
          </a:prstGeom>
          <a:solidFill>
            <a:srgbClr val="F2F8F8"/>
          </a:solidFill>
          <a:ln w="15875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7452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PÚBLICA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Transcripciones anonimizadas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Consentimientos enmascarados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Datos derivados y seudonimizados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Dataset destinado a Zenodo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257800" cy="3977640"/>
          </a:xfrm>
          <a:prstGeom prst="roundRect">
            <a:avLst>
              <a:gd name="adj" fmla="val 2759"/>
            </a:avLst>
          </a:prstGeom>
          <a:solidFill>
            <a:srgbClr val="07313A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1874520"/>
            <a:ext cx="548640" cy="548640"/>
          </a:xfrm>
          <a:prstGeom prst="ellipse">
            <a:avLst/>
          </a:prstGeom>
          <a:solidFill>
            <a:srgbClr val="C9483A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17804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RESTRINGIDA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92240" y="265176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D8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Material identificable cifrado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D8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 rostros, voces, cédulas ni firmas expuestas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D8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Acceso restringido al equipo del proyecto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· ISR-401 · Defensa Final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pipeline reproducible de análisis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9 · Thais Herrera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2F8F8"/>
          </a:solidFill>
          <a:ln w="12700">
            <a:solidFill>
              <a:srgbClr val="DDED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1837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y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CSV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606040" y="224028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70632" y="182880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2F8F8"/>
          </a:solidFill>
          <a:ln w="12700">
            <a:solidFill>
              <a:srgbClr val="DDED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880360" y="2240280"/>
            <a:ext cx="1837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 →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relaciones-requisito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828032" y="224028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992624" y="182880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2F8F8"/>
          </a:solidFill>
          <a:ln w="12700">
            <a:solidFill>
              <a:srgbClr val="DDED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2352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102352" y="2240280"/>
            <a:ext cx="1837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por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050024" y="224028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214616" y="182880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2F8F8"/>
          </a:solidFill>
          <a:ln w="12700">
            <a:solidFill>
              <a:srgbClr val="DDED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24344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324344" y="2240280"/>
            <a:ext cx="1837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permutación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272016" y="224028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36608" y="182880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2F8F8"/>
          </a:solidFill>
          <a:ln w="12700">
            <a:solidFill>
              <a:srgbClr val="DDED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46336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546336" y="2240280"/>
            <a:ext cx="1837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Salida: JSON,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y figuras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3566160"/>
            <a:ext cx="10881360" cy="2103120"/>
          </a:xfrm>
          <a:prstGeom prst="roundRect">
            <a:avLst>
              <a:gd name="adj" fmla="val 5217"/>
            </a:avLst>
          </a:prstGeom>
          <a:solidFill>
            <a:srgbClr val="07313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run_all.py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41605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8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contrastar los valores del manuscrito de forma directa.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675120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100,000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667512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réplicas de permutación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052560" y="3840480"/>
            <a:ext cx="0" cy="1463040"/>
          </a:xfrm>
          <a:prstGeom prst="line">
            <a:avLst/>
          </a:prstGeom>
          <a:noFill/>
          <a:ln w="19050">
            <a:solidFill>
              <a:srgbClr val="1856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81160" y="37490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semilla = 42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9281160" y="43434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reproducibilidad fija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· ISR-401 · Defensa Final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reveló el walkthrough con usuarios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10 · Thais Herrera — 46 observaciones en 10 sesiones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4864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35508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importante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355080" y="178308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tareas con observación de mejora no significa 39 requisitos fallando: los estados corresponden a tareas observadas, no a fallos del sistema.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355080" y="29260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 recurrentes: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355080" y="3291840"/>
            <a:ext cx="1257300" cy="384048"/>
          </a:xfrm>
          <a:prstGeom prst="roundRect">
            <a:avLst>
              <a:gd name="adj" fmla="val 50000"/>
            </a:avLst>
          </a:prstGeom>
          <a:solidFill>
            <a:srgbClr val="F2F8F8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55080" y="3291840"/>
            <a:ext cx="12573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Legibilidad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22108" y="3291840"/>
            <a:ext cx="969264" cy="384048"/>
          </a:xfrm>
          <a:prstGeom prst="roundRect">
            <a:avLst>
              <a:gd name="adj" fmla="val 50000"/>
            </a:avLst>
          </a:prstGeom>
          <a:solidFill>
            <a:srgbClr val="F2F8F8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2108" y="329184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801100" y="329184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2F8F8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01100" y="32918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355080" y="3785616"/>
            <a:ext cx="1545336" cy="384048"/>
          </a:xfrm>
          <a:prstGeom prst="roundRect">
            <a:avLst>
              <a:gd name="adj" fmla="val 50000"/>
            </a:avLst>
          </a:prstGeom>
          <a:solidFill>
            <a:srgbClr val="F2F8F8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55080" y="3785616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Signos vitales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10144" y="3785616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2F8F8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10144" y="378561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por rol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355080" y="4279392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2F8F8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55080" y="427939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clínica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202168" y="4279392"/>
            <a:ext cx="1545336" cy="384048"/>
          </a:xfrm>
          <a:prstGeom prst="roundRect">
            <a:avLst>
              <a:gd name="adj" fmla="val 50000"/>
            </a:avLst>
          </a:prstGeom>
          <a:solidFill>
            <a:srgbClr val="F2F8F8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02168" y="4279392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y turnos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355080" y="48920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validación humana aporta información que una prueba automática no observa.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· ISR-401 · Defensa Final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evidencia de asociación entre área y hallazgos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11 · Paul Tigasi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D8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tabla asintótica de chi cuadrado no cumplió su supuesto mínimo (una frecuencia esperada de 0,5), por lo que se aplicó una prueba de permutación Monte Carlo.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6126480" cy="1417320"/>
          </a:xfrm>
          <a:prstGeom prst="roundRect">
            <a:avLst>
              <a:gd name="adj" fmla="val 6452"/>
            </a:avLst>
          </a:prstGeom>
          <a:solidFill>
            <a:srgbClr val="0B3D4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017520"/>
            <a:ext cx="5577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 correcta: ausencia de evidencia suficiente — no equivale a probar que todas las áreas son iguales.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040880" y="1508760"/>
            <a:ext cx="4572000" cy="1554480"/>
          </a:xfrm>
          <a:prstGeom prst="roundRect">
            <a:avLst>
              <a:gd name="adj" fmla="val 7059"/>
            </a:avLst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0" y="16916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0,413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040880" y="2468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F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 (Monte Carlo)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40880" y="3246120"/>
            <a:ext cx="4572000" cy="1554480"/>
          </a:xfrm>
          <a:prstGeom prst="roundRect">
            <a:avLst>
              <a:gd name="adj" fmla="val 7059"/>
            </a:avLst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0" y="34290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73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 = 0,166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704088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7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de Cramér (tamaño del efecto)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· ISR-401 · Defensa Final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90,91 % de cobertura técnica Must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12 · Paul Tigasi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554480"/>
          <a:ext cx="47548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27889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/ 22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3291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Must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806440" y="1554480"/>
            <a:ext cx="5760720" cy="1371600"/>
          </a:xfrm>
          <a:prstGeom prst="roundRect">
            <a:avLst>
              <a:gd name="adj" fmla="val 6667"/>
            </a:avLst>
          </a:prstGeom>
          <a:solidFill>
            <a:srgbClr val="07313A"/>
          </a:solidFill>
          <a:ln/>
        </p:spPr>
      </p:sp>
      <p:sp>
        <p:nvSpPr>
          <p:cNvPr id="8" name="Text 5"/>
          <p:cNvSpPr/>
          <p:nvPr/>
        </p:nvSpPr>
        <p:spPr>
          <a:xfrm>
            <a:off x="6035040" y="16916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90,91 %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8686800" y="18288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FEF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encima del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FEF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académico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FEF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80 %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806440" y="315468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FDEDEB"/>
          </a:solidFill>
          <a:ln w="12700">
            <a:solidFill>
              <a:srgbClr val="C948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31546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cerrados: RF-09 y RF-18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806440" y="42519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i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porcentaje representa cobertura técnica reproducible del MVP: no es satisfacción, no es SUS y no reemplaza la validación humana.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· ISR-401 · Defensa Final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Presencia funcional ≠ experiencia adecuada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13 · Mayummy Trujillo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5257800" cy="3291840"/>
          </a:xfrm>
          <a:prstGeom prst="roundRect">
            <a:avLst>
              <a:gd name="adj" fmla="val 3333"/>
            </a:avLst>
          </a:prstGeom>
          <a:solidFill>
            <a:srgbClr val="F2F8F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74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892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técnica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56032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si el comportamiento comprometido está implementado.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257800" cy="3291840"/>
          </a:xfrm>
          <a:prstGeom prst="roundRect">
            <a:avLst>
              <a:gd name="adj" fmla="val 3333"/>
            </a:avLst>
          </a:prstGeom>
          <a:solidFill>
            <a:srgbClr val="07313A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187452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132320" y="1892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humana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92240" y="2560320"/>
            <a:ext cx="4709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8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 cómo fue comprendido y utilizado por personas reales: legibilidad, terminología, organización y pertinencia de campos según el rol.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94360" y="507492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FFF7E6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074920"/>
            <a:ext cx="1024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i="1" dirty="0">
                <a:solidFill>
                  <a:srgbClr val="6B4A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ambos resultados separados evita atribuir a las personas una aprobación posterior que nunca realizaron.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· ISR-401 · Defensa Final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Amenazas a la validez, reconocidas con claridad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14 · Mayummy Trujillo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2F8F8"/>
          </a:solidFill>
          <a:ln w="12700">
            <a:solidFill>
              <a:srgbClr val="C948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00200"/>
            <a:ext cx="457200" cy="457200"/>
          </a:xfrm>
          <a:prstGeom prst="ellipse">
            <a:avLst/>
          </a:prstGeom>
          <a:solidFill>
            <a:srgbClr val="C9483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1572768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1031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aplicó SUS; los estados reúnen hallazgos de distinta severidad.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37160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2F8F8"/>
          </a:solidFill>
          <a:ln w="12700">
            <a:solidFill>
              <a:srgbClr val="C948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1600200"/>
            <a:ext cx="457200" cy="457200"/>
          </a:xfrm>
          <a:prstGeom prst="ellipse">
            <a:avLst/>
          </a:prstGeom>
          <a:solidFill>
            <a:srgbClr val="C9483A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86600" y="1572768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Validez interna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21031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estudio no tiene grupo control ni aleatorización.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4360" y="329184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2F8F8"/>
          </a:solidFill>
          <a:ln w="12700">
            <a:solidFill>
              <a:srgbClr val="C948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520440"/>
            <a:ext cx="457200" cy="457200"/>
          </a:xfrm>
          <a:prstGeom prst="ellipse">
            <a:avLst/>
          </a:prstGeom>
          <a:solidFill>
            <a:srgbClr val="C9483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463040" y="3493008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Validez externa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8680" y="402336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un único contexto organizacional.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329184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2F8F8"/>
          </a:solidFill>
          <a:ln w="12700">
            <a:solidFill>
              <a:srgbClr val="C948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46520" y="3520440"/>
            <a:ext cx="457200" cy="457200"/>
          </a:xfrm>
          <a:prstGeom prst="ellipse">
            <a:avLst/>
          </a:prstGeom>
          <a:solidFill>
            <a:srgbClr val="C9483A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86600" y="3493008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 y conclusión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402336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calculó acuerdo intercodificador ni se ejecutó member checking formal.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94360" y="525780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Estas limitaciones delimitan exactamente el alcance de los resultados presentados.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· ISR-401 · Defensa Final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Reproducibilidad distribuida en tres servicios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15 · Mayummy Trujillo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520440" cy="3108960"/>
          </a:xfrm>
          <a:prstGeom prst="roundRect">
            <a:avLst>
              <a:gd name="adj" fmla="val 3529"/>
            </a:avLst>
          </a:prstGeom>
          <a:solidFill>
            <a:srgbClr val="0B3D46"/>
          </a:solidFill>
          <a:ln w="12700">
            <a:solidFill>
              <a:srgbClr val="185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88820" y="2011680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198882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🐙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ERS, código, trazabilidad y scripts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70832" y="1691640"/>
            <a:ext cx="3520440" cy="3108960"/>
          </a:xfrm>
          <a:prstGeom prst="roundRect">
            <a:avLst>
              <a:gd name="adj" fmla="val 3529"/>
            </a:avLst>
          </a:prstGeom>
          <a:solidFill>
            <a:srgbClr val="0B3D46"/>
          </a:solidFill>
          <a:ln w="12700">
            <a:solidFill>
              <a:srgbClr val="1856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5292" y="2011680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5765292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53712" y="292608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OSF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45152" y="34290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y desviaciones declaradas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47304" y="1691640"/>
            <a:ext cx="3520440" cy="3108960"/>
          </a:xfrm>
          <a:prstGeom prst="roundRect">
            <a:avLst>
              <a:gd name="adj" fmla="val 3529"/>
            </a:avLst>
          </a:prstGeom>
          <a:solidFill>
            <a:srgbClr val="0B3D46"/>
          </a:solidFill>
          <a:ln w="12700">
            <a:solidFill>
              <a:srgbClr val="1856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41764" y="2011680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95417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8330184" y="292608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Zenodo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421624" y="34290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de replicación anonimizado + DOI persistente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94360" y="5029200"/>
            <a:ext cx="10835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evidencia identificable permanece fuera del depósito abierto: se puede citar, revisar y regenerar todo sin exponer información personal.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· ISR-401 · Defensa Final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31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16 · Thais Herrera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8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cerró una cadena verificable entre evidencia de campo, requisitos, prototipo y pruebas.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417320" cy="1371600"/>
          </a:xfrm>
          <a:prstGeom prst="roundRect">
            <a:avLst>
              <a:gd name="adj" fmla="val 6667"/>
            </a:avLst>
          </a:prstGeom>
          <a:solidFill>
            <a:srgbClr val="0B3D4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8892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94360" y="35204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03120" y="2651760"/>
            <a:ext cx="1417320" cy="1371600"/>
          </a:xfrm>
          <a:prstGeom prst="roundRect">
            <a:avLst>
              <a:gd name="adj" fmla="val 6667"/>
            </a:avLst>
          </a:prstGeom>
          <a:solidFill>
            <a:srgbClr val="0B3D46"/>
          </a:solidFill>
          <a:ln/>
        </p:spPr>
      </p:sp>
      <p:sp>
        <p:nvSpPr>
          <p:cNvPr id="10" name="Text 8"/>
          <p:cNvSpPr/>
          <p:nvPr/>
        </p:nvSpPr>
        <p:spPr>
          <a:xfrm>
            <a:off x="2103120" y="278892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148840" y="35204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0" y="2651760"/>
            <a:ext cx="1417320" cy="1371600"/>
          </a:xfrm>
          <a:prstGeom prst="roundRect">
            <a:avLst>
              <a:gd name="adj" fmla="val 6667"/>
            </a:avLst>
          </a:prstGeom>
          <a:solidFill>
            <a:srgbClr val="0B3D46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0" y="278892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703320" y="35204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212080" y="2651760"/>
            <a:ext cx="1417320" cy="1371600"/>
          </a:xfrm>
          <a:prstGeom prst="roundRect">
            <a:avLst>
              <a:gd name="adj" fmla="val 6667"/>
            </a:avLst>
          </a:prstGeom>
          <a:solidFill>
            <a:srgbClr val="0B3D46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278892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90,91%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57800" y="35204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Must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470916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Cerrar RF-09 y RF-18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Fortalecer la validación cualitativa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Repetir la verificación técnica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949440" y="1508760"/>
            <a:ext cx="4663440" cy="2286000"/>
          </a:xfrm>
          <a:prstGeom prst="roundRect">
            <a:avLst>
              <a:gd name="adj" fmla="val 4800"/>
            </a:avLst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0" y="173736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90,91 %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7223760" y="26060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9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técnica Must — la validación humana identificó refinamientos que el código no puede medir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3977640"/>
            <a:ext cx="4663440" cy="2194560"/>
          </a:xfrm>
          <a:prstGeom prst="roundRect">
            <a:avLst>
              <a:gd name="adj" fmla="val 5000"/>
            </a:avLst>
          </a:prstGeom>
          <a:solidFill>
            <a:srgbClr val="02C39A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3977640"/>
            <a:ext cx="4114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07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continuación: demostración final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· ISR-401 · Defensa Final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final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17 · Paul Tigasi — únicamente datos sintéticos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257800" cy="3108960"/>
          </a:xfrm>
          <a:prstGeom prst="roundRect">
            <a:avLst>
              <a:gd name="adj" fmla="val 3529"/>
            </a:avLst>
          </a:prstGeom>
          <a:solidFill>
            <a:srgbClr val="07313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13432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Historia y signos vitales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4617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E9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Ingresar con un rol autorizado, buscar un paciente, consultar su historia y registrar signos vitales desde Enfermería.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257800" cy="3108960"/>
          </a:xfrm>
          <a:prstGeom prst="roundRect">
            <a:avLst>
              <a:gd name="adj" fmla="val 3529"/>
            </a:avLst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965960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37960" y="2313432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Receta y entrega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37960" y="2971800"/>
            <a:ext cx="4617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E9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una receta desde un área clínica y comprobar su disponibilidad para entrega en Enfermería.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49834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F2F8F8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9834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conexión falla, se utilizará la versión local de 05_MVP/index.html. Con esto finaliza la defensa.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MediCita · ISR-401 · Defensa Final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2026-09-01T22:22:31Z</dcterms:created>
  <dcterms:modified xsi:type="dcterms:W3CDTF">2026-09-01T22:22:31Z</dcterms:modified>
</cp:coreProperties>
</file>